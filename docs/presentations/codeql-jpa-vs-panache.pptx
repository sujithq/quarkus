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framing. The goal of this short deck is to separate two questions that often get conflated when teams discuss CodeQL coverage for Quarkus apps.
Question 1: does CodeQL already detect SQL injection when the sink is the standard JPA EntityManager? Yes — out of the box. We use it as a control case.
Question 2: can an organization-level CodeQL model pack close a Quarkus/Panache-specific modeling gap? Yes — and we'll prove it with a concrete before/after.
By the end of the deck the audience should be able to explain to a customer why one finding appeared in the baseline and a second one only appeared after the model pack was loaded — without writing a new query or changing application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executive summary in one slide. Use it to set expectations.
Q1 is the control case. The sink is jakarta.persistence.EntityManager.createNativeQuery — standard JPA. CodeQL's stock Java queries already model this sink, so the baseline catches it. This is important: not every Quarkus app needs custom modeling.
Q2 is the actual proof. The sink is the Panache convenience method PanacheEntityBase.list. Baseline CodeQL does not model this in our test, so the same kind of taint flow is silently missed. Loading our model pack closes that gap.
The takeaway line at the bottom — JPA equals control, Panache equals custom-model proof — is what we want the audience to remember if they only catch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test application stack so the audience knows we are not testing a contrived snippet.
1. Jakarta REST gives us @GET, @Path, and @QueryParam — that is how a real HTTP request becomes a tainted Java string.
2. Jakarta Persistence (EntityManager) is used by the JPA control endpoint. Its createNativeQuery method is the sink CodeQL already models.
3. Quarkus Hibernate ORM Panache is used by the second endpoint. PanacheEntityBase.list is the framework helper that is the actual modeling gap.
4. CodeQL is the Java query suite plus a small local model pack we wrote — we did not fork queries, only added data extensions.
Emphasize the line at the bottom: the tainted value comes from real HTTP input, not an artificial local. That removes the easy 'your test is fake' objection.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isolates the source. Both vulnerable code paths begin with the same @QueryParam-annotated string — that is the externally controlled HTTP input.
On the left is the JPA endpoint at /unsafe; on the right is the Panache endpoint at /panache-unsafe. They differ only in which downstream method they call.
The point to make: the source and the concatenation pattern are identical. Any difference in CodeQL's reported findings comes from how CodeQL models the sink, not from anything different about the input or the taint propagation.
This is also why we structured the test this way — it makes the comparison fair and makes the modeling gap impossible to attribute to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control case — Proof 1.
The vulnerable method on the left obtains an EntityManager from the Quarkus Arc container, builds a SQL string with concatenation, and executes it via createNativeQuery. The sink, despite being inside a Quarkus app, is plain Jakarta Persistence.
The right panel shows the baseline analysis result: one finding from java/sql-injection at line 35, exactly the createNativeQuery call. No model pack was loaded for this run.
Customer-facing wording is at the bottom of the slide: this specific JPA pattern is detected out of the box — it does NOT require a custom Quarkus model pack. That is the key boundary we want to draw before showing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gap — Proof 2.
The Panache vulnerable method also concatenates user input into a query string and passes it to a query-execution method. The only structural difference from the JPA case is the sink: instead of EntityManager.createNativeQuery, the call is PanacheEntityBase.list — a Quarkus framework helper.
In the same baseline run the right panel shows zero Panache findings. CodeQL did report the JPA finding from the previous slide, but it did not flag this Panache call. That is the framework-specific modeling gap.
The strip at the bottom names the exact sink: io.quarkus.hibernate.orm.panache.PanacheEntityBase.list. That fully-qualified name is what the model tuple on the next-but-one slide will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visual anchor for the whole story. Two horizontal flows, identical except for the final box.
Both start at @QueryParam, both run through string concatenation, and both end at a query execution. The JPA flow ends at createNativeQuery and is detected. The Panache flow ends at list(query) and is missed.
The 'Why baseline differs' panel at the bottom is the explanation in plain English: CodeQL's standard models cover Jakarta Persistence directly, but they do not yet cover every Quarkus/Panache convenience method. The taint flow is identical; only the model coverage differs.
If a stakeholder only looks at one slide, this is the one to show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extension. Two small files.
qlpack.yml on the left declares a CodeQL pack named local/quarkus-models. The important fields are extensionTargets pointing at codeql/java-all and dataExtensions pointing at our model file. That tells CodeQL: load my model file when the Java analysis runs.
quarkus-sinks.model.yml on the right contains the data tuple. Walk through the columns shown at the bottom: the package, the declaring type PanacheEntityBase, the method name (list, and similarly find), the tainted argument index Argument[0], and the sink kind sql-injection.
Critical clarification: this pack does NOT add a new SQL injection query. It adds framework knowledge that the existing CodeQL Java SQL injection query consumes. That is the cheap, surgical, scalable nature of model packs — and the reason this approach is suitable for organization-level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in two numbers.
Left card: the baseline analysis returned one finding — the JPA sink at line 35. The Panache call was silently missed.
Right card: after passing --model-packs=local/quarkus-models to the same analyze command, CodeQL returned two findings — the original JPA finding at line 35 plus the Panache finding at line 55.
Repeat the line at the bottom: same query suite, same source code; only the model pack changed. That is the cleanest possible demonstration that the modeling gap was the only thing standing between the developer and a true positive — and that org-level model packs close it without forking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Reproduction steps in one slide. This is for the engineer in the room who wants to redo the experiment locally.
Top left: the baseline command — codeql database analyze against the prebuilt db-quarkus database, using the standard codeql/java-queries pack, no model pack. The result strip shows results=1 at line 35.
Top right: the modeled command, identical except for --model-packs=local/quarkus-models and --additional-packs to make the local pack discoverable. The result strip shows results=2 at lines 35 and 55.
Bottom strip: the debug query confirms that CodeQL resolves the methods to the exact qualified names we wrote in the model tuple — jakarta.persistence.EntityManager.createNativeQuery and io.quarkus.hibernate.orm.panache.PanacheEntityBase.list. That rules out 'maybe the model didn't match'.
Environment used: Java 17, Maven 3.9.15, CodeQL CLI 2.25.2.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conclusions, restated for stakeholders.
Left block — JPA: the direct EntityManager.createNativeQuery sink is detected without any custom modeling. This is NOT a Quarkus modeling gap; standard CodeQL Java queries cover Jakarta Persistence today.
Right block — Panache: the convenience helper PanacheEntityBase.list IS missed by baseline. Adding one tuple to an organization-level model pack lets the existing SQL-injection query report it. No application code change. No new query.
Closing line: org-level model packs extend CodeQL surgically and at scale. This is the value proposition we want a security or platform leader to walk away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limitations before anyone deploys this organization-wide.
1. The model is intentionally minimal. It demonstrates the mechanism — it is not yet a production-grade pack.
2. Panache surfaces many overloads (varargs, Sort, Parameters, query objects). Each shape needs to be validated independently.
3. Modeling list and find too broadly may flag safe, parameterized usages and raise false positives. We need to distinguish constant fragments from concatenated ones.
4. A production rollout needs a coverage matrix, a false-positive review against representative repos, and tests.
5. Legacy JBoss/Hibernate and bespoke DAO wrappers should be assessed separately — direct sinks are mostly modeled, but app-specific wrappers usually are not.
Acknowledging these caveats up front is what separates a credible proof from a sales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 from proof to production, in five steps.
1. Expand Panache coverage gradually — stream, find, list, count, delete, update — one method family at a time so we can monitor noise.
2. Model the application's own DAOs and repository wrappers — that is where most environment-specific gaps actually live.
3. For each new model entry, run baseline and modeled analyses on a representative repo and compare the deltas. No promotion without a measured delta.
4. Only validated, low-noise tuples graduate to the organization-level pack. Everything else stays in a staging pack.
5. Document covered APIs and known gaps per stack — Java 8, 17, 21, Quarkus 3, legacy JBoss EAP. That documentation is what makes the program scalable.
Closing CTA: org model packs extend CodeQL without writing custom queries or changing application code. That is the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8BDF8"/>
          </a:solidFill>
          <a:ln w="12700">
            <a:solidFill>
              <a:srgbClr val="38BDF8"/>
            </a:solidFill>
            <a:prstDash val="solid"/>
          </a:ln>
        </p:spPr>
      </p:sp>
      <p:sp>
        <p:nvSpPr>
          <p:cNvPr id="3" name="Shape 1"/>
          <p:cNvSpPr/>
          <p:nvPr/>
        </p:nvSpPr>
        <p:spPr>
          <a:xfrm>
            <a:off x="5120640" y="822960"/>
            <a:ext cx="3657600" cy="3383280"/>
          </a:xfrm>
          <a:prstGeom prst="rect">
            <a:avLst/>
          </a:prstGeom>
          <a:solidFill>
            <a:srgbClr val="111827"/>
          </a:solidFill>
          <a:ln w="12700">
            <a:solidFill>
              <a:srgbClr val="334155"/>
            </a:solidFill>
            <a:prstDash val="solid"/>
          </a:ln>
        </p:spPr>
      </p:sp>
      <p:sp>
        <p:nvSpPr>
          <p:cNvPr id="4" name="Shape 2"/>
          <p:cNvSpPr/>
          <p:nvPr/>
        </p:nvSpPr>
        <p:spPr>
          <a:xfrm>
            <a:off x="5120640" y="822960"/>
            <a:ext cx="3657600" cy="274320"/>
          </a:xfrm>
          <a:prstGeom prst="rect">
            <a:avLst/>
          </a:prstGeom>
          <a:solidFill>
            <a:srgbClr val="1E293B"/>
          </a:solidFill>
          <a:ln w="12700">
            <a:solidFill>
              <a:srgbClr val="334155"/>
            </a:solidFill>
            <a:prstDash val="solid"/>
          </a:ln>
        </p:spPr>
      </p:sp>
      <p:sp>
        <p:nvSpPr>
          <p:cNvPr id="5" name="Shape 3"/>
          <p:cNvSpPr/>
          <p:nvPr/>
        </p:nvSpPr>
        <p:spPr>
          <a:xfrm>
            <a:off x="5212080" y="877824"/>
            <a:ext cx="164592" cy="164592"/>
          </a:xfrm>
          <a:prstGeom prst="ellipse">
            <a:avLst/>
          </a:prstGeom>
          <a:solidFill>
            <a:srgbClr val="EF4444"/>
          </a:solidFill>
          <a:ln w="12700">
            <a:solidFill>
              <a:srgbClr val="EF4444"/>
            </a:solidFill>
            <a:prstDash val="solid"/>
          </a:ln>
        </p:spPr>
      </p:sp>
      <p:sp>
        <p:nvSpPr>
          <p:cNvPr id="6" name="Shape 4"/>
          <p:cNvSpPr/>
          <p:nvPr/>
        </p:nvSpPr>
        <p:spPr>
          <a:xfrm>
            <a:off x="5440680" y="877824"/>
            <a:ext cx="164592" cy="164592"/>
          </a:xfrm>
          <a:prstGeom prst="ellipse">
            <a:avLst/>
          </a:prstGeom>
          <a:solidFill>
            <a:srgbClr val="F59E0B"/>
          </a:solidFill>
          <a:ln w="12700">
            <a:solidFill>
              <a:srgbClr val="F59E0B"/>
            </a:solidFill>
            <a:prstDash val="solid"/>
          </a:ln>
        </p:spPr>
      </p:sp>
      <p:sp>
        <p:nvSpPr>
          <p:cNvPr id="7" name="Shape 5"/>
          <p:cNvSpPr/>
          <p:nvPr/>
        </p:nvSpPr>
        <p:spPr>
          <a:xfrm>
            <a:off x="5669280" y="877824"/>
            <a:ext cx="164592" cy="164592"/>
          </a:xfrm>
          <a:prstGeom prst="ellipse">
            <a:avLst/>
          </a:prstGeom>
          <a:solidFill>
            <a:srgbClr val="10B981"/>
          </a:solidFill>
          <a:ln w="12700">
            <a:solidFill>
              <a:srgbClr val="10B981"/>
            </a:solidFill>
            <a:prstDash val="solid"/>
          </a:ln>
        </p:spPr>
      </p:sp>
      <p:sp>
        <p:nvSpPr>
          <p:cNvPr id="8" name="Text 6"/>
          <p:cNvSpPr/>
          <p:nvPr/>
        </p:nvSpPr>
        <p:spPr>
          <a:xfrm>
            <a:off x="5257800" y="1188720"/>
            <a:ext cx="3383280" cy="2926080"/>
          </a:xfrm>
          <a:prstGeom prst="rect">
            <a:avLst/>
          </a:prstGeom>
          <a:noFill/>
          <a:ln/>
        </p:spPr>
        <p:txBody>
          <a:bodyPr wrap="square" lIns="0" tIns="0" rIns="0" bIns="0" rtlCol="0" anchor="t"/>
          <a:lstStyle/>
          <a:p>
            <a:pPr indent="0" marL="0">
              <a:buNone/>
            </a:pPr>
            <a:r>
              <a:rPr lang="en-US" sz="1100" dirty="0">
                <a:solidFill>
                  <a:srgbClr val="C084FC"/>
                </a:solidFill>
                <a:latin typeface="Consolas" pitchFamily="34" charset="0"/>
                <a:ea typeface="Consolas" pitchFamily="34" charset="-122"/>
                <a:cs typeface="Consolas" pitchFamily="34" charset="-120"/>
              </a:rPr>
              <a:t>@</a:t>
            </a:r>
            <a:pPr indent="0" marL="0">
              <a:buNone/>
            </a:pPr>
            <a:r>
              <a:rPr lang="en-US" sz="1100" dirty="0">
                <a:solidFill>
                  <a:srgbClr val="C084FC"/>
                </a:solidFill>
                <a:latin typeface="Consolas" pitchFamily="34" charset="0"/>
                <a:ea typeface="Consolas" pitchFamily="34" charset="-122"/>
                <a:cs typeface="Consolas" pitchFamily="34" charset="-120"/>
              </a:rPr>
              <a:t>QueryParam</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String doctype</a:t>
            </a:r>
            <a:endParaRPr lang="en-US" sz="1100" dirty="0"/>
          </a:p>
          <a:p>
            <a:pPr indent="0" marL="0">
              <a:buNone/>
            </a:pPr>
            <a:r>
              <a:rPr lang="en-US" sz="1100" dirty="0">
                <a:solidFill>
                  <a:srgbClr val="94A3B8"/>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String sql = </a:t>
            </a:r>
            <a:pPr indent="0" marL="0">
              <a:buNone/>
            </a:pPr>
            <a:r>
              <a:rPr lang="en-US" sz="1100" dirty="0">
                <a:solidFill>
                  <a:srgbClr val="FCD34D"/>
                </a:solidFill>
                <a:latin typeface="Consolas" pitchFamily="34" charset="0"/>
                <a:ea typeface="Consolas" pitchFamily="34" charset="-122"/>
                <a:cs typeface="Consolas" pitchFamily="34" charset="-120"/>
              </a:rPr>
              <a:t>"... '"</a:t>
            </a:r>
            <a:pPr indent="0" marL="0">
              <a:buNone/>
            </a:pPr>
            <a:r>
              <a:rPr lang="en-US" sz="1100" dirty="0">
                <a:solidFill>
                  <a:srgbClr val="F1F5F9"/>
                </a:solidFill>
                <a:latin typeface="Consolas" pitchFamily="34" charset="0"/>
                <a:ea typeface="Consolas" pitchFamily="34" charset="-122"/>
                <a:cs typeface="Consolas" pitchFamily="34" charset="-120"/>
              </a:rPr>
              <a:t> + doctype + </a:t>
            </a:r>
            <a:pPr indent="0" marL="0">
              <a:buNone/>
            </a:pPr>
            <a:r>
              <a:rPr lang="en-US" sz="1100" dirty="0">
                <a:solidFill>
                  <a:srgbClr val="FCD34D"/>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94A3B8"/>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10B981"/>
                </a:solidFill>
                <a:latin typeface="Consolas" pitchFamily="34" charset="0"/>
                <a:ea typeface="Consolas" pitchFamily="34" charset="-122"/>
                <a:cs typeface="Consolas" pitchFamily="34" charset="-120"/>
              </a:rPr>
              <a:t>  em.createNativeQuery(sql)</a:t>
            </a:r>
            <a:endParaRPr lang="en-US" sz="1100" dirty="0"/>
          </a:p>
          <a:p>
            <a:pPr indent="0" marL="0">
              <a:buNone/>
            </a:pPr>
            <a:r>
              <a:rPr lang="en-US" sz="1100" dirty="0">
                <a:solidFill>
                  <a:srgbClr val="EF4444"/>
                </a:solidFill>
                <a:latin typeface="Consolas" pitchFamily="34" charset="0"/>
                <a:ea typeface="Consolas" pitchFamily="34" charset="-122"/>
                <a:cs typeface="Consolas" pitchFamily="34" charset="-120"/>
              </a:rPr>
              <a:t>  list(query)</a:t>
            </a:r>
            <a:endParaRPr lang="en-US" sz="1100" dirty="0"/>
          </a:p>
          <a:p>
            <a:pPr indent="0" marL="0">
              <a:buNone/>
            </a:pPr>
            <a:endParaRPr lang="en-US" sz="1100" dirty="0"/>
          </a:p>
          <a:p>
            <a:pPr indent="0" marL="0">
              <a:buNone/>
            </a:pPr>
            <a:r>
              <a:rPr lang="en-US" sz="1100" dirty="0">
                <a:solidFill>
                  <a:srgbClr val="38BDF8"/>
                </a:solidFill>
                <a:latin typeface="Consolas" pitchFamily="34" charset="0"/>
                <a:ea typeface="Consolas" pitchFamily="34" charset="-122"/>
                <a:cs typeface="Consolas" pitchFamily="34" charset="-120"/>
              </a:rPr>
              <a:t>  → java/sql-injection</a:t>
            </a:r>
            <a:endParaRPr lang="en-US" sz="1100" dirty="0"/>
          </a:p>
        </p:txBody>
      </p:sp>
      <p:sp>
        <p:nvSpPr>
          <p:cNvPr id="9" name="Text 7"/>
          <p:cNvSpPr/>
          <p:nvPr/>
        </p:nvSpPr>
        <p:spPr>
          <a:xfrm>
            <a:off x="548640" y="640080"/>
            <a:ext cx="4572000" cy="274320"/>
          </a:xfrm>
          <a:prstGeom prst="rect">
            <a:avLst/>
          </a:prstGeom>
          <a:noFill/>
          <a:ln/>
        </p:spPr>
        <p:txBody>
          <a:bodyPr wrap="square" lIns="0" tIns="0" rIns="0" bIns="0" rtlCol="0" anchor="ctr"/>
          <a:lstStyle/>
          <a:p>
            <a:pPr indent="0" marL="0">
              <a:buNone/>
            </a:pPr>
            <a:r>
              <a:rPr lang="en-US" sz="1100" b="1" spc="500" kern="0" dirty="0">
                <a:solidFill>
                  <a:srgbClr val="38BDF8"/>
                </a:solidFill>
                <a:latin typeface="Calibri" pitchFamily="34" charset="0"/>
                <a:ea typeface="Calibri" pitchFamily="34" charset="-122"/>
                <a:cs typeface="Calibri" pitchFamily="34" charset="-120"/>
              </a:rPr>
              <a:t>PROOF OF CONCEPT</a:t>
            </a:r>
            <a:endParaRPr lang="en-US" sz="1100" dirty="0"/>
          </a:p>
        </p:txBody>
      </p:sp>
      <p:sp>
        <p:nvSpPr>
          <p:cNvPr id="10" name="Text 8"/>
          <p:cNvSpPr/>
          <p:nvPr/>
        </p:nvSpPr>
        <p:spPr>
          <a:xfrm>
            <a:off x="548640" y="1005840"/>
            <a:ext cx="4572000" cy="1463040"/>
          </a:xfrm>
          <a:prstGeom prst="rect">
            <a:avLst/>
          </a:prstGeom>
          <a:noFill/>
          <a:ln/>
        </p:spPr>
        <p:txBody>
          <a:bodyPr wrap="square" lIns="0" tIns="0" rIns="0" bIns="0" rtlCol="0" anchor="t"/>
          <a:lstStyle/>
          <a:p>
            <a:pPr indent="0" marL="0">
              <a:buNone/>
            </a:pPr>
            <a:r>
              <a:rPr lang="en-US" sz="3000" b="1" dirty="0">
                <a:solidFill>
                  <a:srgbClr val="F1F5F9"/>
                </a:solidFill>
                <a:latin typeface="Cambria" pitchFamily="34" charset="0"/>
                <a:ea typeface="Cambria" pitchFamily="34" charset="-122"/>
                <a:cs typeface="Cambria" pitchFamily="34" charset="-120"/>
              </a:rPr>
              <a:t>CodeQL Detection: JPA vs Quarkus/Panache</a:t>
            </a:r>
            <a:endParaRPr lang="en-US" sz="3000" dirty="0"/>
          </a:p>
        </p:txBody>
      </p:sp>
      <p:sp>
        <p:nvSpPr>
          <p:cNvPr id="11" name="Text 9"/>
          <p:cNvSpPr/>
          <p:nvPr/>
        </p:nvSpPr>
        <p:spPr>
          <a:xfrm>
            <a:off x="548640" y="2468880"/>
            <a:ext cx="4572000" cy="1188720"/>
          </a:xfrm>
          <a:prstGeom prst="rect">
            <a:avLst/>
          </a:prstGeom>
          <a:noFill/>
          <a:ln/>
        </p:spPr>
        <p:txBody>
          <a:bodyPr wrap="square" lIns="0" tIns="0" rIns="0" bIns="0" rtlCol="0" anchor="t"/>
          <a:lstStyle/>
          <a:p>
            <a:pPr indent="0" marL="0">
              <a:buNone/>
            </a:pPr>
            <a:r>
              <a:rPr lang="en-US" sz="1400" dirty="0">
                <a:solidFill>
                  <a:srgbClr val="94A3B8"/>
                </a:solidFill>
                <a:latin typeface="Calibri" pitchFamily="34" charset="0"/>
                <a:ea typeface="Calibri" pitchFamily="34" charset="-122"/>
                <a:cs typeface="Calibri" pitchFamily="34" charset="-120"/>
              </a:rPr>
              <a:t>Why the direct JPA case is detected out of the box — and how an organization-level model pack closes the Quarkus/Panache gap.</a:t>
            </a:r>
            <a:endParaRPr lang="en-US" sz="1400" dirty="0"/>
          </a:p>
        </p:txBody>
      </p:sp>
      <p:sp>
        <p:nvSpPr>
          <p:cNvPr id="12" name="Shape 10"/>
          <p:cNvSpPr/>
          <p:nvPr/>
        </p:nvSpPr>
        <p:spPr>
          <a:xfrm>
            <a:off x="548640" y="4114800"/>
            <a:ext cx="4114800" cy="0"/>
          </a:xfrm>
          <a:prstGeom prst="line">
            <a:avLst/>
          </a:prstGeom>
          <a:noFill/>
          <a:ln w="12700">
            <a:solidFill>
              <a:srgbClr val="334155"/>
            </a:solidFill>
            <a:prstDash val="solid"/>
          </a:ln>
        </p:spPr>
      </p:sp>
      <p:sp>
        <p:nvSpPr>
          <p:cNvPr id="13" name="Text 11"/>
          <p:cNvSpPr/>
          <p:nvPr/>
        </p:nvSpPr>
        <p:spPr>
          <a:xfrm>
            <a:off x="548640" y="4206240"/>
            <a:ext cx="45720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Sujith Quintelier  ·  Cloud Solution Architect, Microsoft</a:t>
            </a:r>
            <a:endParaRPr lang="en-US" sz="1100" dirty="0"/>
          </a:p>
        </p:txBody>
      </p:sp>
      <p:sp>
        <p:nvSpPr>
          <p:cNvPr id="14" name="Text 12"/>
          <p:cNvSpPr/>
          <p:nvPr/>
        </p:nvSpPr>
        <p:spPr>
          <a:xfrm>
            <a:off x="548640" y="4434840"/>
            <a:ext cx="45720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1000" b="1" spc="400" kern="0" dirty="0">
                <a:solidFill>
                  <a:srgbClr val="38BDF8"/>
                </a:solidFill>
                <a:latin typeface="Calibri" pitchFamily="34" charset="0"/>
                <a:ea typeface="Calibri" pitchFamily="34" charset="-122"/>
                <a:cs typeface="Calibri" pitchFamily="34" charset="-120"/>
              </a:rPr>
              <a:t>EXECUTIVE SUMMARY</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Two questions, two distinct answers</a:t>
            </a:r>
            <a:endParaRPr lang="en-US" sz="2800" dirty="0"/>
          </a:p>
        </p:txBody>
      </p:sp>
      <p:sp>
        <p:nvSpPr>
          <p:cNvPr id="4" name="Shape 2"/>
          <p:cNvSpPr/>
          <p:nvPr/>
        </p:nvSpPr>
        <p:spPr>
          <a:xfrm>
            <a:off x="457200" y="1280160"/>
            <a:ext cx="4023360" cy="3200400"/>
          </a:xfrm>
          <a:prstGeom prst="rect">
            <a:avLst/>
          </a:prstGeom>
          <a:solidFill>
            <a:srgbClr val="1E293B"/>
          </a:solidFill>
          <a:ln w="12700">
            <a:solidFill>
              <a:srgbClr val="334155"/>
            </a:solidFill>
            <a:prstDash val="solid"/>
          </a:ln>
        </p:spPr>
      </p:sp>
      <p:sp>
        <p:nvSpPr>
          <p:cNvPr id="5" name="Shape 3"/>
          <p:cNvSpPr/>
          <p:nvPr/>
        </p:nvSpPr>
        <p:spPr>
          <a:xfrm>
            <a:off x="457200" y="1280160"/>
            <a:ext cx="4023360" cy="73152"/>
          </a:xfrm>
          <a:prstGeom prst="rect">
            <a:avLst/>
          </a:prstGeom>
          <a:solidFill>
            <a:srgbClr val="10B981"/>
          </a:solidFill>
          <a:ln w="12700">
            <a:solidFill>
              <a:srgbClr val="10B981"/>
            </a:solidFill>
            <a:prstDash val="solid"/>
          </a:ln>
        </p:spPr>
      </p:sp>
      <p:sp>
        <p:nvSpPr>
          <p:cNvPr id="6" name="Text 4"/>
          <p:cNvSpPr/>
          <p:nvPr/>
        </p:nvSpPr>
        <p:spPr>
          <a:xfrm>
            <a:off x="640080" y="1463040"/>
            <a:ext cx="548640" cy="365760"/>
          </a:xfrm>
          <a:prstGeom prst="rect">
            <a:avLst/>
          </a:prstGeom>
          <a:noFill/>
          <a:ln/>
        </p:spPr>
        <p:txBody>
          <a:bodyPr wrap="square" lIns="0" tIns="0" rIns="0" bIns="0" rtlCol="0" anchor="ctr"/>
          <a:lstStyle/>
          <a:p>
            <a:pPr indent="0" marL="0">
              <a:buNone/>
            </a:pPr>
            <a:r>
              <a:rPr lang="en-US" sz="2200" b="1" dirty="0">
                <a:solidFill>
                  <a:srgbClr val="10B981"/>
                </a:solidFill>
                <a:latin typeface="Cambria" pitchFamily="34" charset="0"/>
                <a:ea typeface="Cambria" pitchFamily="34" charset="-122"/>
                <a:cs typeface="Cambria" pitchFamily="34" charset="-120"/>
              </a:rPr>
              <a:t>Q1</a:t>
            </a:r>
            <a:endParaRPr lang="en-US" sz="2200" dirty="0"/>
          </a:p>
        </p:txBody>
      </p:sp>
      <p:sp>
        <p:nvSpPr>
          <p:cNvPr id="7" name="Text 5"/>
          <p:cNvSpPr/>
          <p:nvPr/>
        </p:nvSpPr>
        <p:spPr>
          <a:xfrm>
            <a:off x="640080" y="1874520"/>
            <a:ext cx="3657600" cy="1188720"/>
          </a:xfrm>
          <a:prstGeom prst="rect">
            <a:avLst/>
          </a:prstGeom>
          <a:noFill/>
          <a:ln/>
        </p:spPr>
        <p:txBody>
          <a:bodyPr wrap="square" lIns="0" tIns="0" rIns="0" bIns="0" rtlCol="0" anchor="t"/>
          <a:lstStyle/>
          <a:p>
            <a:pPr indent="0" marL="0">
              <a:buNone/>
            </a:pPr>
            <a:r>
              <a:rPr lang="en-US" sz="1400" dirty="0">
                <a:solidFill>
                  <a:srgbClr val="F1F5F9"/>
                </a:solidFill>
                <a:latin typeface="Calibri" pitchFamily="34" charset="0"/>
                <a:ea typeface="Calibri" pitchFamily="34" charset="-122"/>
                <a:cs typeface="Calibri" pitchFamily="34" charset="-120"/>
              </a:rPr>
              <a:t>Does CodeQL detect SQL injection when the sink is JPA EntityManager.createNativeQuery?</a:t>
            </a:r>
            <a:endParaRPr lang="en-US" sz="1400" dirty="0"/>
          </a:p>
        </p:txBody>
      </p:sp>
      <p:sp>
        <p:nvSpPr>
          <p:cNvPr id="8" name="Shape 6"/>
          <p:cNvSpPr/>
          <p:nvPr/>
        </p:nvSpPr>
        <p:spPr>
          <a:xfrm>
            <a:off x="640080" y="3200400"/>
            <a:ext cx="1554480" cy="292608"/>
          </a:xfrm>
          <a:prstGeom prst="rect">
            <a:avLst/>
          </a:prstGeom>
          <a:solidFill>
            <a:srgbClr val="10B981"/>
          </a:solidFill>
          <a:ln w="12700">
            <a:solidFill>
              <a:srgbClr val="10B981"/>
            </a:solidFill>
            <a:prstDash val="solid"/>
          </a:ln>
        </p:spPr>
      </p:sp>
      <p:sp>
        <p:nvSpPr>
          <p:cNvPr id="9" name="Text 7"/>
          <p:cNvSpPr/>
          <p:nvPr/>
        </p:nvSpPr>
        <p:spPr>
          <a:xfrm>
            <a:off x="640080" y="3200400"/>
            <a:ext cx="155448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YES — BASELINE</a:t>
            </a:r>
            <a:endParaRPr lang="en-US" sz="1000" dirty="0"/>
          </a:p>
        </p:txBody>
      </p:sp>
      <p:sp>
        <p:nvSpPr>
          <p:cNvPr id="10" name="Text 8"/>
          <p:cNvSpPr/>
          <p:nvPr/>
        </p:nvSpPr>
        <p:spPr>
          <a:xfrm>
            <a:off x="640080" y="3611880"/>
            <a:ext cx="3657600" cy="777240"/>
          </a:xfrm>
          <a:prstGeom prst="rect">
            <a:avLst/>
          </a:prstGeom>
          <a:noFill/>
          <a:ln/>
        </p:spPr>
        <p:txBody>
          <a:bodyPr wrap="square" lIns="0" tIns="0" rIns="0" bIns="0" rtlCol="0" anchor="t"/>
          <a:lstStyle/>
          <a:p>
            <a:pPr indent="0" marL="0">
              <a:buNone/>
            </a:pPr>
            <a:r>
              <a:rPr lang="en-US" sz="1100" i="1" dirty="0">
                <a:solidFill>
                  <a:srgbClr val="94A3B8"/>
                </a:solidFill>
                <a:latin typeface="Calibri" pitchFamily="34" charset="0"/>
                <a:ea typeface="Calibri" pitchFamily="34" charset="-122"/>
                <a:cs typeface="Calibri" pitchFamily="34" charset="-120"/>
              </a:rPr>
              <a:t>Standard CodeQL Java queries already model EntityManager.createNativeQuery as a SQL-injection sink.</a:t>
            </a:r>
            <a:endParaRPr lang="en-US" sz="1100" dirty="0"/>
          </a:p>
        </p:txBody>
      </p:sp>
      <p:sp>
        <p:nvSpPr>
          <p:cNvPr id="11" name="Shape 9"/>
          <p:cNvSpPr/>
          <p:nvPr/>
        </p:nvSpPr>
        <p:spPr>
          <a:xfrm>
            <a:off x="4663440" y="1280160"/>
            <a:ext cx="4023360" cy="3200400"/>
          </a:xfrm>
          <a:prstGeom prst="rect">
            <a:avLst/>
          </a:prstGeom>
          <a:solidFill>
            <a:srgbClr val="1E293B"/>
          </a:solidFill>
          <a:ln w="12700">
            <a:solidFill>
              <a:srgbClr val="334155"/>
            </a:solidFill>
            <a:prstDash val="solid"/>
          </a:ln>
        </p:spPr>
      </p:sp>
      <p:sp>
        <p:nvSpPr>
          <p:cNvPr id="12" name="Shape 10"/>
          <p:cNvSpPr/>
          <p:nvPr/>
        </p:nvSpPr>
        <p:spPr>
          <a:xfrm>
            <a:off x="4663440" y="1280160"/>
            <a:ext cx="4023360" cy="73152"/>
          </a:xfrm>
          <a:prstGeom prst="rect">
            <a:avLst/>
          </a:prstGeom>
          <a:solidFill>
            <a:srgbClr val="F59E0B"/>
          </a:solidFill>
          <a:ln w="12700">
            <a:solidFill>
              <a:srgbClr val="F59E0B"/>
            </a:solidFill>
            <a:prstDash val="solid"/>
          </a:ln>
        </p:spPr>
      </p:sp>
      <p:sp>
        <p:nvSpPr>
          <p:cNvPr id="13" name="Text 11"/>
          <p:cNvSpPr/>
          <p:nvPr/>
        </p:nvSpPr>
        <p:spPr>
          <a:xfrm>
            <a:off x="4846320" y="1463040"/>
            <a:ext cx="548640" cy="365760"/>
          </a:xfrm>
          <a:prstGeom prst="rect">
            <a:avLst/>
          </a:prstGeom>
          <a:noFill/>
          <a:ln/>
        </p:spPr>
        <p:txBody>
          <a:bodyPr wrap="square" lIns="0" tIns="0" rIns="0" bIns="0" rtlCol="0" anchor="ctr"/>
          <a:lstStyle/>
          <a:p>
            <a:pPr indent="0" marL="0">
              <a:buNone/>
            </a:pPr>
            <a:r>
              <a:rPr lang="en-US" sz="2200" b="1" dirty="0">
                <a:solidFill>
                  <a:srgbClr val="F59E0B"/>
                </a:solidFill>
                <a:latin typeface="Cambria" pitchFamily="34" charset="0"/>
                <a:ea typeface="Cambria" pitchFamily="34" charset="-122"/>
                <a:cs typeface="Cambria" pitchFamily="34" charset="-120"/>
              </a:rPr>
              <a:t>Q2</a:t>
            </a:r>
            <a:endParaRPr lang="en-US" sz="2200" dirty="0"/>
          </a:p>
        </p:txBody>
      </p:sp>
      <p:sp>
        <p:nvSpPr>
          <p:cNvPr id="14" name="Text 12"/>
          <p:cNvSpPr/>
          <p:nvPr/>
        </p:nvSpPr>
        <p:spPr>
          <a:xfrm>
            <a:off x="4846320" y="1874520"/>
            <a:ext cx="3657600" cy="1188720"/>
          </a:xfrm>
          <a:prstGeom prst="rect">
            <a:avLst/>
          </a:prstGeom>
          <a:noFill/>
          <a:ln/>
        </p:spPr>
        <p:txBody>
          <a:bodyPr wrap="square" lIns="0" tIns="0" rIns="0" bIns="0" rtlCol="0" anchor="t"/>
          <a:lstStyle/>
          <a:p>
            <a:pPr indent="0" marL="0">
              <a:buNone/>
            </a:pPr>
            <a:r>
              <a:rPr lang="en-US" sz="1400" dirty="0">
                <a:solidFill>
                  <a:srgbClr val="F1F5F9"/>
                </a:solidFill>
                <a:latin typeface="Calibri" pitchFamily="34" charset="0"/>
                <a:ea typeface="Calibri" pitchFamily="34" charset="-122"/>
                <a:cs typeface="Calibri" pitchFamily="34" charset="-120"/>
              </a:rPr>
              <a:t>Can a custom organization-level model pack close a Quarkus/Panache modeling gap?</a:t>
            </a:r>
            <a:endParaRPr lang="en-US" sz="1400" dirty="0"/>
          </a:p>
        </p:txBody>
      </p:sp>
      <p:sp>
        <p:nvSpPr>
          <p:cNvPr id="15" name="Shape 13"/>
          <p:cNvSpPr/>
          <p:nvPr/>
        </p:nvSpPr>
        <p:spPr>
          <a:xfrm>
            <a:off x="4846320" y="3200400"/>
            <a:ext cx="1554480" cy="292608"/>
          </a:xfrm>
          <a:prstGeom prst="rect">
            <a:avLst/>
          </a:prstGeom>
          <a:solidFill>
            <a:srgbClr val="F59E0B"/>
          </a:solidFill>
          <a:ln w="12700">
            <a:solidFill>
              <a:srgbClr val="F59E0B"/>
            </a:solidFill>
            <a:prstDash val="solid"/>
          </a:ln>
        </p:spPr>
      </p:sp>
      <p:sp>
        <p:nvSpPr>
          <p:cNvPr id="16" name="Text 14"/>
          <p:cNvSpPr/>
          <p:nvPr/>
        </p:nvSpPr>
        <p:spPr>
          <a:xfrm>
            <a:off x="4846320" y="3200400"/>
            <a:ext cx="155448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YES — MODELED</a:t>
            </a:r>
            <a:endParaRPr lang="en-US" sz="1000" dirty="0"/>
          </a:p>
        </p:txBody>
      </p:sp>
      <p:sp>
        <p:nvSpPr>
          <p:cNvPr id="17" name="Text 15"/>
          <p:cNvSpPr/>
          <p:nvPr/>
        </p:nvSpPr>
        <p:spPr>
          <a:xfrm>
            <a:off x="4846320" y="3611880"/>
            <a:ext cx="3657600" cy="777240"/>
          </a:xfrm>
          <a:prstGeom prst="rect">
            <a:avLst/>
          </a:prstGeom>
          <a:noFill/>
          <a:ln/>
        </p:spPr>
        <p:txBody>
          <a:bodyPr wrap="square" lIns="0" tIns="0" rIns="0" bIns="0" rtlCol="0" anchor="t"/>
          <a:lstStyle/>
          <a:p>
            <a:pPr indent="0" marL="0">
              <a:buNone/>
            </a:pPr>
            <a:r>
              <a:rPr lang="en-US" sz="1100" i="1" dirty="0">
                <a:solidFill>
                  <a:srgbClr val="94A3B8"/>
                </a:solidFill>
                <a:latin typeface="Calibri" pitchFamily="34" charset="0"/>
                <a:ea typeface="Calibri" pitchFamily="34" charset="-122"/>
                <a:cs typeface="Calibri" pitchFamily="34" charset="-120"/>
              </a:rPr>
              <a:t>Baseline misses Panache list(query). Adding a model-pack tuple makes CodeQL report it.</a:t>
            </a:r>
            <a:endParaRPr lang="en-US" sz="1100" dirty="0"/>
          </a:p>
        </p:txBody>
      </p:sp>
      <p:sp>
        <p:nvSpPr>
          <p:cNvPr id="18" name="Text 16"/>
          <p:cNvSpPr/>
          <p:nvPr/>
        </p:nvSpPr>
        <p:spPr>
          <a:xfrm>
            <a:off x="457200" y="4572000"/>
            <a:ext cx="8229600" cy="274320"/>
          </a:xfrm>
          <a:prstGeom prst="rect">
            <a:avLst/>
          </a:prstGeom>
          <a:noFill/>
          <a:ln/>
        </p:spPr>
        <p:txBody>
          <a:bodyPr wrap="square" lIns="0" tIns="0" rIns="0" bIns="0" rtlCol="0" anchor="ctr"/>
          <a:lstStyle/>
          <a:p>
            <a:pPr algn="ctr" indent="0" marL="0">
              <a:buNone/>
            </a:pPr>
            <a:r>
              <a:rPr lang="en-US" sz="1200" i="1" dirty="0">
                <a:solidFill>
                  <a:srgbClr val="38BDF8"/>
                </a:solidFill>
                <a:latin typeface="Calibri" pitchFamily="34" charset="0"/>
                <a:ea typeface="Calibri" pitchFamily="34" charset="-122"/>
                <a:cs typeface="Calibri" pitchFamily="34" charset="-120"/>
              </a:rPr>
              <a:t>JPA = control case  ·  Panache = custom-model proof</a:t>
            </a:r>
            <a:endParaRPr lang="en-US" sz="1200" dirty="0"/>
          </a:p>
        </p:txBody>
      </p:sp>
      <p:sp>
        <p:nvSpPr>
          <p:cNvPr id="20" name="Shape 17"/>
          <p:cNvSpPr/>
          <p:nvPr/>
        </p:nvSpPr>
        <p:spPr>
          <a:xfrm>
            <a:off x="0" y="4937760"/>
            <a:ext cx="9144000" cy="205740"/>
          </a:xfrm>
          <a:prstGeom prst="rect">
            <a:avLst/>
          </a:prstGeom>
          <a:solidFill>
            <a:srgbClr val="1E293B"/>
          </a:solidFill>
          <a:ln w="12700">
            <a:solidFill>
              <a:srgbClr val="1E293B"/>
            </a:solidFill>
            <a:prstDash val="solid"/>
          </a:ln>
        </p:spPr>
      </p:sp>
      <p:sp>
        <p:nvSpPr>
          <p:cNvPr id="21" name="Text 18"/>
          <p:cNvSpPr/>
          <p:nvPr/>
        </p:nvSpPr>
        <p:spPr>
          <a:xfrm>
            <a:off x="365760" y="4937760"/>
            <a:ext cx="5486400" cy="2057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CodeQL Proof  ·  JPA vs Quarkus/Panache</a:t>
            </a:r>
            <a:endParaRPr lang="en-US" sz="900" dirty="0"/>
          </a:p>
        </p:txBody>
      </p:sp>
      <p:sp>
        <p:nvSpPr>
          <p:cNvPr id="22" name="Text 19"/>
          <p:cNvSpPr/>
          <p:nvPr/>
        </p:nvSpPr>
        <p:spPr>
          <a:xfrm>
            <a:off x="7863840" y="4937760"/>
            <a:ext cx="914400" cy="20574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1000" b="1" spc="400" kern="0" dirty="0">
                <a:solidFill>
                  <a:srgbClr val="38BDF8"/>
                </a:solidFill>
                <a:latin typeface="Calibri" pitchFamily="34" charset="0"/>
                <a:ea typeface="Calibri" pitchFamily="34" charset="-122"/>
                <a:cs typeface="Calibri" pitchFamily="34" charset="-120"/>
              </a:rPr>
              <a:t>TEST APPLICATION</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A minimal Quarkus 3 project</a:t>
            </a:r>
            <a:endParaRPr lang="en-US" sz="2800" dirty="0"/>
          </a:p>
        </p:txBody>
      </p:sp>
      <p:sp>
        <p:nvSpPr>
          <p:cNvPr id="4" name="Shape 2"/>
          <p:cNvSpPr/>
          <p:nvPr/>
        </p:nvSpPr>
        <p:spPr>
          <a:xfrm>
            <a:off x="457200" y="1234440"/>
            <a:ext cx="8229600" cy="777240"/>
          </a:xfrm>
          <a:prstGeom prst="rect">
            <a:avLst/>
          </a:prstGeom>
          <a:solidFill>
            <a:srgbClr val="1E293B"/>
          </a:solidFill>
          <a:ln w="9525">
            <a:solidFill>
              <a:srgbClr val="334155"/>
            </a:solidFill>
            <a:prstDash val="solid"/>
          </a:ln>
        </p:spPr>
      </p:sp>
      <p:sp>
        <p:nvSpPr>
          <p:cNvPr id="5" name="Shape 3"/>
          <p:cNvSpPr/>
          <p:nvPr/>
        </p:nvSpPr>
        <p:spPr>
          <a:xfrm>
            <a:off x="457200" y="1234440"/>
            <a:ext cx="73152" cy="777240"/>
          </a:xfrm>
          <a:prstGeom prst="rect">
            <a:avLst/>
          </a:prstGeom>
          <a:solidFill>
            <a:srgbClr val="38BDF8"/>
          </a:solidFill>
          <a:ln w="12700">
            <a:solidFill>
              <a:srgbClr val="38BDF8"/>
            </a:solidFill>
            <a:prstDash val="solid"/>
          </a:ln>
        </p:spPr>
      </p:sp>
      <p:sp>
        <p:nvSpPr>
          <p:cNvPr id="6" name="Shape 4"/>
          <p:cNvSpPr/>
          <p:nvPr/>
        </p:nvSpPr>
        <p:spPr>
          <a:xfrm>
            <a:off x="685800" y="1417320"/>
            <a:ext cx="411480" cy="411480"/>
          </a:xfrm>
          <a:prstGeom prst="ellipse">
            <a:avLst/>
          </a:prstGeom>
          <a:solidFill>
            <a:srgbClr val="38BDF8"/>
          </a:solidFill>
          <a:ln w="12700">
            <a:solidFill>
              <a:srgbClr val="38BDF8"/>
            </a:solidFill>
            <a:prstDash val="solid"/>
          </a:ln>
        </p:spPr>
      </p:sp>
      <p:sp>
        <p:nvSpPr>
          <p:cNvPr id="7" name="Text 5"/>
          <p:cNvSpPr/>
          <p:nvPr/>
        </p:nvSpPr>
        <p:spPr>
          <a:xfrm>
            <a:off x="685800" y="14173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280160" y="1325880"/>
            <a:ext cx="5029200" cy="320040"/>
          </a:xfrm>
          <a:prstGeom prst="rect">
            <a:avLst/>
          </a:prstGeom>
          <a:noFill/>
          <a:ln/>
        </p:spPr>
        <p:txBody>
          <a:bodyPr wrap="square" lIns="0" tIns="0" rIns="0" bIns="0" rtlCol="0" anchor="ctr"/>
          <a:lstStyle/>
          <a:p>
            <a:pPr indent="0" marL="0">
              <a:buNone/>
            </a:pPr>
            <a:r>
              <a:rPr lang="en-US" sz="1500" b="1" dirty="0">
                <a:solidFill>
                  <a:srgbClr val="F1F5F9"/>
                </a:solidFill>
                <a:latin typeface="Cambria" pitchFamily="34" charset="0"/>
                <a:ea typeface="Cambria" pitchFamily="34" charset="-122"/>
                <a:cs typeface="Cambria" pitchFamily="34" charset="-120"/>
              </a:rPr>
              <a:t>Jakarta REST</a:t>
            </a:r>
            <a:endParaRPr lang="en-US" sz="1500" dirty="0"/>
          </a:p>
        </p:txBody>
      </p:sp>
      <p:sp>
        <p:nvSpPr>
          <p:cNvPr id="9" name="Text 7"/>
          <p:cNvSpPr/>
          <p:nvPr/>
        </p:nvSpPr>
        <p:spPr>
          <a:xfrm>
            <a:off x="1280160" y="1645920"/>
            <a:ext cx="5029200" cy="274320"/>
          </a:xfrm>
          <a:prstGeom prst="rect">
            <a:avLst/>
          </a:prstGeom>
          <a:noFill/>
          <a:ln/>
        </p:spPr>
        <p:txBody>
          <a:bodyPr wrap="square" lIns="0" tIns="0" rIns="0" bIns="0" rtlCol="0" anchor="ctr"/>
          <a:lstStyle/>
          <a:p>
            <a:pPr indent="0" marL="0">
              <a:buNone/>
            </a:pPr>
            <a:r>
              <a:rPr lang="en-US" sz="1000" dirty="0">
                <a:solidFill>
                  <a:srgbClr val="38BDF8"/>
                </a:solidFill>
                <a:latin typeface="Consolas" pitchFamily="34" charset="0"/>
                <a:ea typeface="Consolas" pitchFamily="34" charset="-122"/>
                <a:cs typeface="Consolas" pitchFamily="34" charset="-120"/>
              </a:rPr>
              <a:t>@GET, @Path, @QueryParam</a:t>
            </a:r>
            <a:endParaRPr lang="en-US" sz="1000" dirty="0"/>
          </a:p>
        </p:txBody>
      </p:sp>
      <p:sp>
        <p:nvSpPr>
          <p:cNvPr id="10" name="Text 8"/>
          <p:cNvSpPr/>
          <p:nvPr/>
        </p:nvSpPr>
        <p:spPr>
          <a:xfrm>
            <a:off x="6400800" y="1463040"/>
            <a:ext cx="219456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Provides user-controlled HTTP input</a:t>
            </a:r>
            <a:endParaRPr lang="en-US" sz="1100" dirty="0"/>
          </a:p>
        </p:txBody>
      </p:sp>
      <p:sp>
        <p:nvSpPr>
          <p:cNvPr id="11" name="Shape 9"/>
          <p:cNvSpPr/>
          <p:nvPr/>
        </p:nvSpPr>
        <p:spPr>
          <a:xfrm>
            <a:off x="457200" y="2057400"/>
            <a:ext cx="8229600" cy="777240"/>
          </a:xfrm>
          <a:prstGeom prst="rect">
            <a:avLst/>
          </a:prstGeom>
          <a:solidFill>
            <a:srgbClr val="1E293B"/>
          </a:solidFill>
          <a:ln w="9525">
            <a:solidFill>
              <a:srgbClr val="334155"/>
            </a:solidFill>
            <a:prstDash val="solid"/>
          </a:ln>
        </p:spPr>
      </p:sp>
      <p:sp>
        <p:nvSpPr>
          <p:cNvPr id="12" name="Shape 10"/>
          <p:cNvSpPr/>
          <p:nvPr/>
        </p:nvSpPr>
        <p:spPr>
          <a:xfrm>
            <a:off x="457200" y="2057400"/>
            <a:ext cx="73152" cy="777240"/>
          </a:xfrm>
          <a:prstGeom prst="rect">
            <a:avLst/>
          </a:prstGeom>
          <a:solidFill>
            <a:srgbClr val="10B981"/>
          </a:solidFill>
          <a:ln w="12700">
            <a:solidFill>
              <a:srgbClr val="10B981"/>
            </a:solidFill>
            <a:prstDash val="solid"/>
          </a:ln>
        </p:spPr>
      </p:sp>
      <p:sp>
        <p:nvSpPr>
          <p:cNvPr id="13" name="Shape 11"/>
          <p:cNvSpPr/>
          <p:nvPr/>
        </p:nvSpPr>
        <p:spPr>
          <a:xfrm>
            <a:off x="685800" y="2240280"/>
            <a:ext cx="411480" cy="411480"/>
          </a:xfrm>
          <a:prstGeom prst="ellipse">
            <a:avLst/>
          </a:prstGeom>
          <a:solidFill>
            <a:srgbClr val="10B981"/>
          </a:solidFill>
          <a:ln w="12700">
            <a:solidFill>
              <a:srgbClr val="10B981"/>
            </a:solidFill>
            <a:prstDash val="solid"/>
          </a:ln>
        </p:spPr>
      </p:sp>
      <p:sp>
        <p:nvSpPr>
          <p:cNvPr id="14" name="Text 12"/>
          <p:cNvSpPr/>
          <p:nvPr/>
        </p:nvSpPr>
        <p:spPr>
          <a:xfrm>
            <a:off x="685800" y="22402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3"/>
          <p:cNvSpPr/>
          <p:nvPr/>
        </p:nvSpPr>
        <p:spPr>
          <a:xfrm>
            <a:off x="1280160" y="2148840"/>
            <a:ext cx="5029200" cy="320040"/>
          </a:xfrm>
          <a:prstGeom prst="rect">
            <a:avLst/>
          </a:prstGeom>
          <a:noFill/>
          <a:ln/>
        </p:spPr>
        <p:txBody>
          <a:bodyPr wrap="square" lIns="0" tIns="0" rIns="0" bIns="0" rtlCol="0" anchor="ctr"/>
          <a:lstStyle/>
          <a:p>
            <a:pPr indent="0" marL="0">
              <a:buNone/>
            </a:pPr>
            <a:r>
              <a:rPr lang="en-US" sz="1500" b="1" dirty="0">
                <a:solidFill>
                  <a:srgbClr val="F1F5F9"/>
                </a:solidFill>
                <a:latin typeface="Cambria" pitchFamily="34" charset="0"/>
                <a:ea typeface="Cambria" pitchFamily="34" charset="-122"/>
                <a:cs typeface="Cambria" pitchFamily="34" charset="-120"/>
              </a:rPr>
              <a:t>Jakarta Persistence</a:t>
            </a:r>
            <a:endParaRPr lang="en-US" sz="1500" dirty="0"/>
          </a:p>
        </p:txBody>
      </p:sp>
      <p:sp>
        <p:nvSpPr>
          <p:cNvPr id="16" name="Text 14"/>
          <p:cNvSpPr/>
          <p:nvPr/>
        </p:nvSpPr>
        <p:spPr>
          <a:xfrm>
            <a:off x="1280160" y="2468880"/>
            <a:ext cx="5029200" cy="274320"/>
          </a:xfrm>
          <a:prstGeom prst="rect">
            <a:avLst/>
          </a:prstGeom>
          <a:noFill/>
          <a:ln/>
        </p:spPr>
        <p:txBody>
          <a:bodyPr wrap="square" lIns="0" tIns="0" rIns="0" bIns="0" rtlCol="0" anchor="ctr"/>
          <a:lstStyle/>
          <a:p>
            <a:pPr indent="0" marL="0">
              <a:buNone/>
            </a:pPr>
            <a:r>
              <a:rPr lang="en-US" sz="1000" dirty="0">
                <a:solidFill>
                  <a:srgbClr val="10B981"/>
                </a:solidFill>
                <a:latin typeface="Consolas" pitchFamily="34" charset="0"/>
                <a:ea typeface="Consolas" pitchFamily="34" charset="-122"/>
                <a:cs typeface="Consolas" pitchFamily="34" charset="-120"/>
              </a:rPr>
              <a:t>EntityManager.createNativeQuery</a:t>
            </a:r>
            <a:endParaRPr lang="en-US" sz="1000" dirty="0"/>
          </a:p>
        </p:txBody>
      </p:sp>
      <p:sp>
        <p:nvSpPr>
          <p:cNvPr id="17" name="Text 15"/>
          <p:cNvSpPr/>
          <p:nvPr/>
        </p:nvSpPr>
        <p:spPr>
          <a:xfrm>
            <a:off x="6400800" y="2286000"/>
            <a:ext cx="219456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Direct JPA sink — control case</a:t>
            </a:r>
            <a:endParaRPr lang="en-US" sz="1100" dirty="0"/>
          </a:p>
        </p:txBody>
      </p:sp>
      <p:sp>
        <p:nvSpPr>
          <p:cNvPr id="18" name="Shape 16"/>
          <p:cNvSpPr/>
          <p:nvPr/>
        </p:nvSpPr>
        <p:spPr>
          <a:xfrm>
            <a:off x="457200" y="2880360"/>
            <a:ext cx="8229600" cy="777240"/>
          </a:xfrm>
          <a:prstGeom prst="rect">
            <a:avLst/>
          </a:prstGeom>
          <a:solidFill>
            <a:srgbClr val="1E293B"/>
          </a:solidFill>
          <a:ln w="9525">
            <a:solidFill>
              <a:srgbClr val="334155"/>
            </a:solidFill>
            <a:prstDash val="solid"/>
          </a:ln>
        </p:spPr>
      </p:sp>
      <p:sp>
        <p:nvSpPr>
          <p:cNvPr id="19" name="Shape 17"/>
          <p:cNvSpPr/>
          <p:nvPr/>
        </p:nvSpPr>
        <p:spPr>
          <a:xfrm>
            <a:off x="457200" y="2880360"/>
            <a:ext cx="73152" cy="777240"/>
          </a:xfrm>
          <a:prstGeom prst="rect">
            <a:avLst/>
          </a:prstGeom>
          <a:solidFill>
            <a:srgbClr val="EF4444"/>
          </a:solidFill>
          <a:ln w="12700">
            <a:solidFill>
              <a:srgbClr val="EF4444"/>
            </a:solidFill>
            <a:prstDash val="solid"/>
          </a:ln>
        </p:spPr>
      </p:sp>
      <p:sp>
        <p:nvSpPr>
          <p:cNvPr id="20" name="Shape 18"/>
          <p:cNvSpPr/>
          <p:nvPr/>
        </p:nvSpPr>
        <p:spPr>
          <a:xfrm>
            <a:off x="685800" y="3063240"/>
            <a:ext cx="411480" cy="411480"/>
          </a:xfrm>
          <a:prstGeom prst="ellipse">
            <a:avLst/>
          </a:prstGeom>
          <a:solidFill>
            <a:srgbClr val="EF4444"/>
          </a:solidFill>
          <a:ln w="12700">
            <a:solidFill>
              <a:srgbClr val="EF4444"/>
            </a:solidFill>
            <a:prstDash val="solid"/>
          </a:ln>
        </p:spPr>
      </p:sp>
      <p:sp>
        <p:nvSpPr>
          <p:cNvPr id="21" name="Text 19"/>
          <p:cNvSpPr/>
          <p:nvPr/>
        </p:nvSpPr>
        <p:spPr>
          <a:xfrm>
            <a:off x="685800" y="30632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2" name="Text 20"/>
          <p:cNvSpPr/>
          <p:nvPr/>
        </p:nvSpPr>
        <p:spPr>
          <a:xfrm>
            <a:off x="1280160" y="2971800"/>
            <a:ext cx="5029200" cy="320040"/>
          </a:xfrm>
          <a:prstGeom prst="rect">
            <a:avLst/>
          </a:prstGeom>
          <a:noFill/>
          <a:ln/>
        </p:spPr>
        <p:txBody>
          <a:bodyPr wrap="square" lIns="0" tIns="0" rIns="0" bIns="0" rtlCol="0" anchor="ctr"/>
          <a:lstStyle/>
          <a:p>
            <a:pPr indent="0" marL="0">
              <a:buNone/>
            </a:pPr>
            <a:r>
              <a:rPr lang="en-US" sz="1500" b="1" dirty="0">
                <a:solidFill>
                  <a:srgbClr val="F1F5F9"/>
                </a:solidFill>
                <a:latin typeface="Cambria" pitchFamily="34" charset="0"/>
                <a:ea typeface="Cambria" pitchFamily="34" charset="-122"/>
                <a:cs typeface="Cambria" pitchFamily="34" charset="-120"/>
              </a:rPr>
              <a:t>Quarkus Hibernate ORM Panache</a:t>
            </a:r>
            <a:endParaRPr lang="en-US" sz="1500" dirty="0"/>
          </a:p>
        </p:txBody>
      </p:sp>
      <p:sp>
        <p:nvSpPr>
          <p:cNvPr id="23" name="Text 21"/>
          <p:cNvSpPr/>
          <p:nvPr/>
        </p:nvSpPr>
        <p:spPr>
          <a:xfrm>
            <a:off x="1280160" y="3291840"/>
            <a:ext cx="5029200" cy="274320"/>
          </a:xfrm>
          <a:prstGeom prst="rect">
            <a:avLst/>
          </a:prstGeom>
          <a:noFill/>
          <a:ln/>
        </p:spPr>
        <p:txBody>
          <a:bodyPr wrap="square" lIns="0" tIns="0" rIns="0" bIns="0" rtlCol="0" anchor="ctr"/>
          <a:lstStyle/>
          <a:p>
            <a:pPr indent="0" marL="0">
              <a:buNone/>
            </a:pPr>
            <a:r>
              <a:rPr lang="en-US" sz="1000" dirty="0">
                <a:solidFill>
                  <a:srgbClr val="EF4444"/>
                </a:solidFill>
                <a:latin typeface="Consolas" pitchFamily="34" charset="0"/>
                <a:ea typeface="Consolas" pitchFamily="34" charset="-122"/>
                <a:cs typeface="Consolas" pitchFamily="34" charset="-120"/>
              </a:rPr>
              <a:t>PanacheEntityBase.list / find</a:t>
            </a:r>
            <a:endParaRPr lang="en-US" sz="1000" dirty="0"/>
          </a:p>
        </p:txBody>
      </p:sp>
      <p:sp>
        <p:nvSpPr>
          <p:cNvPr id="24" name="Text 22"/>
          <p:cNvSpPr/>
          <p:nvPr/>
        </p:nvSpPr>
        <p:spPr>
          <a:xfrm>
            <a:off x="6400800" y="3108960"/>
            <a:ext cx="219456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Framework convenience API — gap case</a:t>
            </a:r>
            <a:endParaRPr lang="en-US" sz="1100" dirty="0"/>
          </a:p>
        </p:txBody>
      </p:sp>
      <p:sp>
        <p:nvSpPr>
          <p:cNvPr id="25" name="Shape 23"/>
          <p:cNvSpPr/>
          <p:nvPr/>
        </p:nvSpPr>
        <p:spPr>
          <a:xfrm>
            <a:off x="457200" y="3703320"/>
            <a:ext cx="8229600" cy="777240"/>
          </a:xfrm>
          <a:prstGeom prst="rect">
            <a:avLst/>
          </a:prstGeom>
          <a:solidFill>
            <a:srgbClr val="1E293B"/>
          </a:solidFill>
          <a:ln w="9525">
            <a:solidFill>
              <a:srgbClr val="334155"/>
            </a:solidFill>
            <a:prstDash val="solid"/>
          </a:ln>
        </p:spPr>
      </p:sp>
      <p:sp>
        <p:nvSpPr>
          <p:cNvPr id="26" name="Shape 24"/>
          <p:cNvSpPr/>
          <p:nvPr/>
        </p:nvSpPr>
        <p:spPr>
          <a:xfrm>
            <a:off x="457200" y="3703320"/>
            <a:ext cx="73152" cy="777240"/>
          </a:xfrm>
          <a:prstGeom prst="rect">
            <a:avLst/>
          </a:prstGeom>
          <a:solidFill>
            <a:srgbClr val="C084FC"/>
          </a:solidFill>
          <a:ln w="12700">
            <a:solidFill>
              <a:srgbClr val="C084FC"/>
            </a:solidFill>
            <a:prstDash val="solid"/>
          </a:ln>
        </p:spPr>
      </p:sp>
      <p:sp>
        <p:nvSpPr>
          <p:cNvPr id="27" name="Shape 25"/>
          <p:cNvSpPr/>
          <p:nvPr/>
        </p:nvSpPr>
        <p:spPr>
          <a:xfrm>
            <a:off x="685800" y="3886200"/>
            <a:ext cx="411480" cy="411480"/>
          </a:xfrm>
          <a:prstGeom prst="ellipse">
            <a:avLst/>
          </a:prstGeom>
          <a:solidFill>
            <a:srgbClr val="C084FC"/>
          </a:solidFill>
          <a:ln w="12700">
            <a:solidFill>
              <a:srgbClr val="C084FC"/>
            </a:solidFill>
            <a:prstDash val="solid"/>
          </a:ln>
        </p:spPr>
      </p:sp>
      <p:sp>
        <p:nvSpPr>
          <p:cNvPr id="28" name="Text 26"/>
          <p:cNvSpPr/>
          <p:nvPr/>
        </p:nvSpPr>
        <p:spPr>
          <a:xfrm>
            <a:off x="685800" y="38862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9" name="Text 27"/>
          <p:cNvSpPr/>
          <p:nvPr/>
        </p:nvSpPr>
        <p:spPr>
          <a:xfrm>
            <a:off x="1280160" y="3794760"/>
            <a:ext cx="5029200" cy="320040"/>
          </a:xfrm>
          <a:prstGeom prst="rect">
            <a:avLst/>
          </a:prstGeom>
          <a:noFill/>
          <a:ln/>
        </p:spPr>
        <p:txBody>
          <a:bodyPr wrap="square" lIns="0" tIns="0" rIns="0" bIns="0" rtlCol="0" anchor="ctr"/>
          <a:lstStyle/>
          <a:p>
            <a:pPr indent="0" marL="0">
              <a:buNone/>
            </a:pPr>
            <a:r>
              <a:rPr lang="en-US" sz="1500" b="1" dirty="0">
                <a:solidFill>
                  <a:srgbClr val="F1F5F9"/>
                </a:solidFill>
                <a:latin typeface="Cambria" pitchFamily="34" charset="0"/>
                <a:ea typeface="Cambria" pitchFamily="34" charset="-122"/>
                <a:cs typeface="Cambria" pitchFamily="34" charset="-120"/>
              </a:rPr>
              <a:t>CodeQL</a:t>
            </a:r>
            <a:endParaRPr lang="en-US" sz="1500" dirty="0"/>
          </a:p>
        </p:txBody>
      </p:sp>
      <p:sp>
        <p:nvSpPr>
          <p:cNvPr id="30" name="Text 28"/>
          <p:cNvSpPr/>
          <p:nvPr/>
        </p:nvSpPr>
        <p:spPr>
          <a:xfrm>
            <a:off x="1280160" y="4114800"/>
            <a:ext cx="5029200" cy="274320"/>
          </a:xfrm>
          <a:prstGeom prst="rect">
            <a:avLst/>
          </a:prstGeom>
          <a:noFill/>
          <a:ln/>
        </p:spPr>
        <p:txBody>
          <a:bodyPr wrap="square" lIns="0" tIns="0" rIns="0" bIns="0" rtlCol="0" anchor="ctr"/>
          <a:lstStyle/>
          <a:p>
            <a:pPr indent="0" marL="0">
              <a:buNone/>
            </a:pPr>
            <a:r>
              <a:rPr lang="en-US" sz="1000" dirty="0">
                <a:solidFill>
                  <a:srgbClr val="C084FC"/>
                </a:solidFill>
                <a:latin typeface="Consolas" pitchFamily="34" charset="0"/>
                <a:ea typeface="Consolas" pitchFamily="34" charset="-122"/>
                <a:cs typeface="Consolas" pitchFamily="34" charset="-120"/>
              </a:rPr>
              <a:t>Java queries + local model pack</a:t>
            </a:r>
            <a:endParaRPr lang="en-US" sz="1000" dirty="0"/>
          </a:p>
        </p:txBody>
      </p:sp>
      <p:sp>
        <p:nvSpPr>
          <p:cNvPr id="31" name="Text 29"/>
          <p:cNvSpPr/>
          <p:nvPr/>
        </p:nvSpPr>
        <p:spPr>
          <a:xfrm>
            <a:off x="6400800" y="3931920"/>
            <a:ext cx="219456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Static analysis with extension support</a:t>
            </a:r>
            <a:endParaRPr lang="en-US" sz="1100" dirty="0"/>
          </a:p>
        </p:txBody>
      </p:sp>
      <p:sp>
        <p:nvSpPr>
          <p:cNvPr id="32" name="Text 30"/>
          <p:cNvSpPr/>
          <p:nvPr/>
        </p:nvSpPr>
        <p:spPr>
          <a:xfrm>
            <a:off x="457200" y="4572000"/>
            <a:ext cx="8229600" cy="274320"/>
          </a:xfrm>
          <a:prstGeom prst="rect">
            <a:avLst/>
          </a:prstGeom>
          <a:noFill/>
          <a:ln/>
        </p:spPr>
        <p:txBody>
          <a:bodyPr wrap="square" lIns="0" tIns="0" rIns="0" bIns="0"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Tainted value enters via real HTTP input — not an artificial local variable.</a:t>
            </a:r>
            <a:endParaRPr lang="en-US" sz="1100" dirty="0"/>
          </a:p>
        </p:txBody>
      </p:sp>
      <p:sp>
        <p:nvSpPr>
          <p:cNvPr id="34" name="Shape 31"/>
          <p:cNvSpPr/>
          <p:nvPr/>
        </p:nvSpPr>
        <p:spPr>
          <a:xfrm>
            <a:off x="0" y="4937760"/>
            <a:ext cx="9144000" cy="205740"/>
          </a:xfrm>
          <a:prstGeom prst="rect">
            <a:avLst/>
          </a:prstGeom>
          <a:solidFill>
            <a:srgbClr val="1E293B"/>
          </a:solidFill>
          <a:ln w="12700">
            <a:solidFill>
              <a:srgbClr val="1E293B"/>
            </a:solidFill>
            <a:prstDash val="solid"/>
          </a:ln>
        </p:spPr>
      </p:sp>
      <p:sp>
        <p:nvSpPr>
          <p:cNvPr id="35" name="Text 32"/>
          <p:cNvSpPr/>
          <p:nvPr/>
        </p:nvSpPr>
        <p:spPr>
          <a:xfrm>
            <a:off x="365760" y="4937760"/>
            <a:ext cx="5486400" cy="2057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CodeQL Proof  ·  JPA vs Quarkus/Panache</a:t>
            </a:r>
            <a:endParaRPr lang="en-US" sz="900" dirty="0"/>
          </a:p>
        </p:txBody>
      </p:sp>
      <p:sp>
        <p:nvSpPr>
          <p:cNvPr id="36" name="Text 33"/>
          <p:cNvSpPr/>
          <p:nvPr/>
        </p:nvSpPr>
        <p:spPr>
          <a:xfrm>
            <a:off x="7863840" y="4937760"/>
            <a:ext cx="914400" cy="20574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1000" b="1" spc="400" kern="0" dirty="0">
                <a:solidFill>
                  <a:srgbClr val="38BDF8"/>
                </a:solidFill>
                <a:latin typeface="Calibri" pitchFamily="34" charset="0"/>
                <a:ea typeface="Calibri" pitchFamily="34" charset="-122"/>
                <a:cs typeface="Calibri" pitchFamily="34" charset="-120"/>
              </a:rPr>
              <a:t>SHARED SOURCE</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Both vulnerable paths start at @QueryParam</a:t>
            </a:r>
            <a:endParaRPr lang="en-US" sz="2800" dirty="0"/>
          </a:p>
        </p:txBody>
      </p:sp>
      <p:sp>
        <p:nvSpPr>
          <p:cNvPr id="4" name="Shape 2"/>
          <p:cNvSpPr/>
          <p:nvPr/>
        </p:nvSpPr>
        <p:spPr>
          <a:xfrm>
            <a:off x="457200" y="1280160"/>
            <a:ext cx="4023360" cy="1371600"/>
          </a:xfrm>
          <a:prstGeom prst="rect">
            <a:avLst/>
          </a:prstGeom>
          <a:solidFill>
            <a:srgbClr val="111827"/>
          </a:solidFill>
          <a:ln w="9525">
            <a:solidFill>
              <a:srgbClr val="334155"/>
            </a:solidFill>
            <a:prstDash val="solid"/>
          </a:ln>
        </p:spPr>
      </p:sp>
      <p:sp>
        <p:nvSpPr>
          <p:cNvPr id="5" name="Text 3"/>
          <p:cNvSpPr/>
          <p:nvPr/>
        </p:nvSpPr>
        <p:spPr>
          <a:xfrm>
            <a:off x="502920" y="1325880"/>
            <a:ext cx="640080" cy="201168"/>
          </a:xfrm>
          <a:prstGeom prst="rect">
            <a:avLst/>
          </a:prstGeom>
          <a:noFill/>
          <a:ln/>
        </p:spPr>
        <p:txBody>
          <a:bodyPr wrap="square" lIns="0" tIns="0" rIns="0" bIns="0" rtlCol="0" anchor="ctr"/>
          <a:lstStyle/>
          <a:p>
            <a:pPr algn="l" indent="0" marL="0">
              <a:buNone/>
            </a:pPr>
            <a:r>
              <a:rPr lang="en-US" sz="800" dirty="0">
                <a:solidFill>
                  <a:srgbClr val="94A3B8"/>
                </a:solidFill>
                <a:latin typeface="Consolas" pitchFamily="34" charset="0"/>
                <a:ea typeface="Consolas" pitchFamily="34" charset="-122"/>
                <a:cs typeface="Consolas" pitchFamily="34" charset="-120"/>
              </a:rPr>
              <a:t>java</a:t>
            </a:r>
            <a:endParaRPr lang="en-US" sz="800" dirty="0"/>
          </a:p>
        </p:txBody>
      </p:sp>
      <p:sp>
        <p:nvSpPr>
          <p:cNvPr id="6" name="Text 4"/>
          <p:cNvSpPr/>
          <p:nvPr/>
        </p:nvSpPr>
        <p:spPr>
          <a:xfrm>
            <a:off x="594360" y="1554480"/>
            <a:ext cx="3749040" cy="1005840"/>
          </a:xfrm>
          <a:prstGeom prst="rect">
            <a:avLst/>
          </a:prstGeom>
          <a:noFill/>
          <a:ln/>
        </p:spPr>
        <p:txBody>
          <a:bodyPr wrap="square" lIns="0" tIns="0" rIns="0" bIns="0" rtlCol="0" anchor="t"/>
          <a:lstStyle/>
          <a:p>
            <a:pPr indent="0" marL="0">
              <a:buNone/>
            </a:pPr>
            <a:r>
              <a:rPr lang="en-US" sz="1100" dirty="0">
                <a:solidFill>
                  <a:srgbClr val="C084FC"/>
                </a:solidFill>
                <a:latin typeface="Consolas" pitchFamily="34" charset="0"/>
                <a:ea typeface="Consolas" pitchFamily="34" charset="-122"/>
                <a:cs typeface="Consolas" pitchFamily="34" charset="-120"/>
              </a:rPr>
              <a:t>@QueryParam</a:t>
            </a:r>
            <a:pPr indent="0" marL="0">
              <a:buNone/>
            </a:pPr>
            <a:r>
              <a:rPr lang="en-US" sz="1100" dirty="0">
                <a:solidFill>
                  <a:srgbClr val="F1F5F9"/>
                </a:solidFill>
                <a:latin typeface="Consolas" pitchFamily="34" charset="0"/>
                <a:ea typeface="Consolas" pitchFamily="34" charset="-122"/>
                <a:cs typeface="Consolas" pitchFamily="34" charset="-120"/>
              </a:rPr>
              <a:t>(</a:t>
            </a:r>
            <a:pPr indent="0" marL="0">
              <a:buNone/>
            </a:pPr>
            <a:r>
              <a:rPr lang="en-US" sz="1100" dirty="0">
                <a:solidFill>
                  <a:srgbClr val="FCD34D"/>
                </a:solidFill>
                <a:latin typeface="Consolas" pitchFamily="34" charset="0"/>
                <a:ea typeface="Consolas" pitchFamily="34" charset="-122"/>
                <a:cs typeface="Consolas" pitchFamily="34" charset="-120"/>
              </a:rPr>
              <a:t>"doctype"</a:t>
            </a:r>
            <a:pPr indent="0" marL="0">
              <a:buNone/>
            </a:pPr>
            <a:r>
              <a:rPr lang="en-US" sz="1100" dirty="0">
                <a:solidFill>
                  <a:srgbClr val="F1F5F9"/>
                </a:solidFill>
                <a:latin typeface="Consolas" pitchFamily="34" charset="0"/>
                <a:ea typeface="Consolas" pitchFamily="34" charset="-122"/>
                <a:cs typeface="Consolas" pitchFamily="34" charset="-120"/>
              </a:rPr>
              <a:t>) String doctype</a:t>
            </a:r>
            <a:endParaRPr lang="en-US" sz="1100" dirty="0"/>
          </a:p>
        </p:txBody>
      </p:sp>
      <p:sp>
        <p:nvSpPr>
          <p:cNvPr id="7" name="Text 5"/>
          <p:cNvSpPr/>
          <p:nvPr/>
        </p:nvSpPr>
        <p:spPr>
          <a:xfrm>
            <a:off x="457200" y="2697480"/>
            <a:ext cx="4023360" cy="22860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HTTP input — externally controlled</a:t>
            </a:r>
            <a:endParaRPr lang="en-US" sz="1000" dirty="0"/>
          </a:p>
        </p:txBody>
      </p:sp>
      <p:sp>
        <p:nvSpPr>
          <p:cNvPr id="8" name="Text 6"/>
          <p:cNvSpPr/>
          <p:nvPr/>
        </p:nvSpPr>
        <p:spPr>
          <a:xfrm>
            <a:off x="457200" y="3108960"/>
            <a:ext cx="4023360" cy="27432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JPA endpoint</a:t>
            </a:r>
            <a:endParaRPr lang="en-US" sz="1100" dirty="0"/>
          </a:p>
        </p:txBody>
      </p:sp>
      <p:sp>
        <p:nvSpPr>
          <p:cNvPr id="9" name="Shape 7"/>
          <p:cNvSpPr/>
          <p:nvPr/>
        </p:nvSpPr>
        <p:spPr>
          <a:xfrm>
            <a:off x="457200" y="3383280"/>
            <a:ext cx="4023360" cy="1371600"/>
          </a:xfrm>
          <a:prstGeom prst="rect">
            <a:avLst/>
          </a:prstGeom>
          <a:solidFill>
            <a:srgbClr val="111827"/>
          </a:solidFill>
          <a:ln w="9525">
            <a:solidFill>
              <a:srgbClr val="334155"/>
            </a:solidFill>
            <a:prstDash val="solid"/>
          </a:ln>
        </p:spPr>
      </p:sp>
      <p:sp>
        <p:nvSpPr>
          <p:cNvPr id="10" name="Text 8"/>
          <p:cNvSpPr/>
          <p:nvPr/>
        </p:nvSpPr>
        <p:spPr>
          <a:xfrm>
            <a:off x="502920" y="3429000"/>
            <a:ext cx="640080" cy="201168"/>
          </a:xfrm>
          <a:prstGeom prst="rect">
            <a:avLst/>
          </a:prstGeom>
          <a:noFill/>
          <a:ln/>
        </p:spPr>
        <p:txBody>
          <a:bodyPr wrap="square" lIns="0" tIns="0" rIns="0" bIns="0" rtlCol="0" anchor="ctr"/>
          <a:lstStyle/>
          <a:p>
            <a:pPr algn="l" indent="0" marL="0">
              <a:buNone/>
            </a:pPr>
            <a:r>
              <a:rPr lang="en-US" sz="800" dirty="0">
                <a:solidFill>
                  <a:srgbClr val="94A3B8"/>
                </a:solidFill>
                <a:latin typeface="Consolas" pitchFamily="34" charset="0"/>
                <a:ea typeface="Consolas" pitchFamily="34" charset="-122"/>
                <a:cs typeface="Consolas" pitchFamily="34" charset="-120"/>
              </a:rPr>
              <a:t>java</a:t>
            </a:r>
            <a:endParaRPr lang="en-US" sz="800" dirty="0"/>
          </a:p>
        </p:txBody>
      </p:sp>
      <p:sp>
        <p:nvSpPr>
          <p:cNvPr id="11" name="Text 9"/>
          <p:cNvSpPr/>
          <p:nvPr/>
        </p:nvSpPr>
        <p:spPr>
          <a:xfrm>
            <a:off x="594360" y="3657600"/>
            <a:ext cx="3749040" cy="1005840"/>
          </a:xfrm>
          <a:prstGeom prst="rect">
            <a:avLst/>
          </a:prstGeom>
          <a:noFill/>
          <a:ln/>
        </p:spPr>
        <p:txBody>
          <a:bodyPr wrap="square" lIns="0" tIns="0" rIns="0" bIns="0" rtlCol="0" anchor="t"/>
          <a:lstStyle/>
          <a:p>
            <a:pPr indent="0" marL="0">
              <a:buNone/>
            </a:pPr>
            <a:r>
              <a:rPr lang="en-US" sz="1100" dirty="0">
                <a:solidFill>
                  <a:srgbClr val="C084FC"/>
                </a:solidFill>
                <a:latin typeface="Consolas" pitchFamily="34" charset="0"/>
                <a:ea typeface="Consolas" pitchFamily="34" charset="-122"/>
                <a:cs typeface="Consolas" pitchFamily="34" charset="-120"/>
              </a:rPr>
              <a:t>@GET @Path</a:t>
            </a:r>
            <a:pPr indent="0" marL="0">
              <a:buNone/>
            </a:pPr>
            <a:r>
              <a:rPr lang="en-US" sz="1100" dirty="0">
                <a:solidFill>
                  <a:srgbClr val="F1F5F9"/>
                </a:solidFill>
                <a:latin typeface="Consolas" pitchFamily="34" charset="0"/>
                <a:ea typeface="Consolas" pitchFamily="34" charset="-122"/>
                <a:cs typeface="Consolas" pitchFamily="34" charset="-120"/>
              </a:rPr>
              <a:t>(</a:t>
            </a:r>
            <a:pPr indent="0" marL="0">
              <a:buNone/>
            </a:pPr>
            <a:r>
              <a:rPr lang="en-US" sz="1100" dirty="0">
                <a:solidFill>
                  <a:srgbClr val="FCD34D"/>
                </a:solidFill>
                <a:latin typeface="Consolas" pitchFamily="34" charset="0"/>
                <a:ea typeface="Consolas" pitchFamily="34" charset="-122"/>
                <a:cs typeface="Consolas" pitchFamily="34" charset="-120"/>
              </a:rPr>
              <a:t>"/unsafe"</a:t>
            </a:r>
            <a:pPr indent="0" marL="0">
              <a:buNone/>
            </a:pPr>
            <a:r>
              <a:rPr lang="en-US" sz="1100" dirty="0">
                <a:solidFill>
                  <a:srgbClr val="F1F5F9"/>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findUnsafe(String doctype)</a:t>
            </a:r>
            <a:endParaRPr lang="en-US" sz="1100" dirty="0"/>
          </a:p>
          <a:p>
            <a:pPr indent="0" marL="0">
              <a:buNone/>
            </a:pPr>
            <a:r>
              <a:rPr lang="en-US" sz="1100" dirty="0">
                <a:solidFill>
                  <a:srgbClr val="94A3B8"/>
                </a:solidFill>
                <a:latin typeface="Consolas" pitchFamily="34" charset="0"/>
                <a:ea typeface="Consolas" pitchFamily="34" charset="-122"/>
                <a:cs typeface="Consolas" pitchFamily="34" charset="-120"/>
              </a:rPr>
              <a:t>  → findByDoctypeUnsafe(doctype);</a:t>
            </a:r>
            <a:endParaRPr lang="en-US" sz="1100" dirty="0"/>
          </a:p>
        </p:txBody>
      </p:sp>
      <p:sp>
        <p:nvSpPr>
          <p:cNvPr id="12" name="Text 10"/>
          <p:cNvSpPr/>
          <p:nvPr/>
        </p:nvSpPr>
        <p:spPr>
          <a:xfrm>
            <a:off x="4663440" y="3108960"/>
            <a:ext cx="4023360" cy="274320"/>
          </a:xfrm>
          <a:prstGeom prst="rect">
            <a:avLst/>
          </a:prstGeom>
          <a:noFill/>
          <a:ln/>
        </p:spPr>
        <p:txBody>
          <a:bodyPr wrap="square" lIns="0" tIns="0" rIns="0" bIns="0"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Panache endpoint</a:t>
            </a:r>
            <a:endParaRPr lang="en-US" sz="1100" dirty="0"/>
          </a:p>
        </p:txBody>
      </p:sp>
      <p:sp>
        <p:nvSpPr>
          <p:cNvPr id="13" name="Shape 11"/>
          <p:cNvSpPr/>
          <p:nvPr/>
        </p:nvSpPr>
        <p:spPr>
          <a:xfrm>
            <a:off x="4663440" y="3383280"/>
            <a:ext cx="4023360" cy="1371600"/>
          </a:xfrm>
          <a:prstGeom prst="rect">
            <a:avLst/>
          </a:prstGeom>
          <a:solidFill>
            <a:srgbClr val="111827"/>
          </a:solidFill>
          <a:ln w="9525">
            <a:solidFill>
              <a:srgbClr val="334155"/>
            </a:solidFill>
            <a:prstDash val="solid"/>
          </a:ln>
        </p:spPr>
      </p:sp>
      <p:sp>
        <p:nvSpPr>
          <p:cNvPr id="14" name="Text 12"/>
          <p:cNvSpPr/>
          <p:nvPr/>
        </p:nvSpPr>
        <p:spPr>
          <a:xfrm>
            <a:off x="4709160" y="3429000"/>
            <a:ext cx="640080" cy="201168"/>
          </a:xfrm>
          <a:prstGeom prst="rect">
            <a:avLst/>
          </a:prstGeom>
          <a:noFill/>
          <a:ln/>
        </p:spPr>
        <p:txBody>
          <a:bodyPr wrap="square" lIns="0" tIns="0" rIns="0" bIns="0" rtlCol="0" anchor="ctr"/>
          <a:lstStyle/>
          <a:p>
            <a:pPr algn="l" indent="0" marL="0">
              <a:buNone/>
            </a:pPr>
            <a:r>
              <a:rPr lang="en-US" sz="800" dirty="0">
                <a:solidFill>
                  <a:srgbClr val="94A3B8"/>
                </a:solidFill>
                <a:latin typeface="Consolas" pitchFamily="34" charset="0"/>
                <a:ea typeface="Consolas" pitchFamily="34" charset="-122"/>
                <a:cs typeface="Consolas" pitchFamily="34" charset="-120"/>
              </a:rPr>
              <a:t>java</a:t>
            </a:r>
            <a:endParaRPr lang="en-US" sz="800" dirty="0"/>
          </a:p>
        </p:txBody>
      </p:sp>
      <p:sp>
        <p:nvSpPr>
          <p:cNvPr id="15" name="Text 13"/>
          <p:cNvSpPr/>
          <p:nvPr/>
        </p:nvSpPr>
        <p:spPr>
          <a:xfrm>
            <a:off x="4800600" y="3657600"/>
            <a:ext cx="3749040" cy="1005840"/>
          </a:xfrm>
          <a:prstGeom prst="rect">
            <a:avLst/>
          </a:prstGeom>
          <a:noFill/>
          <a:ln/>
        </p:spPr>
        <p:txBody>
          <a:bodyPr wrap="square" lIns="0" tIns="0" rIns="0" bIns="0" rtlCol="0" anchor="t"/>
          <a:lstStyle/>
          <a:p>
            <a:pPr indent="0" marL="0">
              <a:buNone/>
            </a:pPr>
            <a:r>
              <a:rPr lang="en-US" sz="1100" dirty="0">
                <a:solidFill>
                  <a:srgbClr val="C084FC"/>
                </a:solidFill>
                <a:latin typeface="Consolas" pitchFamily="34" charset="0"/>
                <a:ea typeface="Consolas" pitchFamily="34" charset="-122"/>
                <a:cs typeface="Consolas" pitchFamily="34" charset="-120"/>
              </a:rPr>
              <a:t>@GET @Path</a:t>
            </a:r>
            <a:pPr indent="0" marL="0">
              <a:buNone/>
            </a:pPr>
            <a:r>
              <a:rPr lang="en-US" sz="1100" dirty="0">
                <a:solidFill>
                  <a:srgbClr val="F1F5F9"/>
                </a:solidFill>
                <a:latin typeface="Consolas" pitchFamily="34" charset="0"/>
                <a:ea typeface="Consolas" pitchFamily="34" charset="-122"/>
                <a:cs typeface="Consolas" pitchFamily="34" charset="-120"/>
              </a:rPr>
              <a:t>(</a:t>
            </a:r>
            <a:pPr indent="0" marL="0">
              <a:buNone/>
            </a:pPr>
            <a:r>
              <a:rPr lang="en-US" sz="1100" dirty="0">
                <a:solidFill>
                  <a:srgbClr val="FCD34D"/>
                </a:solidFill>
                <a:latin typeface="Consolas" pitchFamily="34" charset="0"/>
                <a:ea typeface="Consolas" pitchFamily="34" charset="-122"/>
                <a:cs typeface="Consolas" pitchFamily="34" charset="-120"/>
              </a:rPr>
              <a:t>"/panache-unsafe"</a:t>
            </a:r>
            <a:pPr indent="0" marL="0">
              <a:buNone/>
            </a:pPr>
            <a:r>
              <a:rPr lang="en-US" sz="1100" dirty="0">
                <a:solidFill>
                  <a:srgbClr val="F1F5F9"/>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findPanacheUnsafe(String doctype)</a:t>
            </a:r>
            <a:endParaRPr lang="en-US" sz="1100" dirty="0"/>
          </a:p>
          <a:p>
            <a:pPr indent="0" marL="0">
              <a:buNone/>
            </a:pPr>
            <a:r>
              <a:rPr lang="en-US" sz="1100" dirty="0">
                <a:solidFill>
                  <a:srgbClr val="94A3B8"/>
                </a:solidFill>
                <a:latin typeface="Consolas" pitchFamily="34" charset="0"/>
                <a:ea typeface="Consolas" pitchFamily="34" charset="-122"/>
                <a:cs typeface="Consolas" pitchFamily="34" charset="-120"/>
              </a:rPr>
              <a:t>  → findByDoctypePanacheUnsafe(doctype);</a:t>
            </a:r>
            <a:endParaRPr lang="en-US" sz="1100" dirty="0"/>
          </a:p>
        </p:txBody>
      </p:sp>
      <p:sp>
        <p:nvSpPr>
          <p:cNvPr id="16" name="Shape 14"/>
          <p:cNvSpPr/>
          <p:nvPr/>
        </p:nvSpPr>
        <p:spPr>
          <a:xfrm>
            <a:off x="4572000" y="1965960"/>
            <a:ext cx="0" cy="1463040"/>
          </a:xfrm>
          <a:prstGeom prst="line">
            <a:avLst/>
          </a:prstGeom>
          <a:noFill/>
          <a:ln w="12700">
            <a:solidFill>
              <a:srgbClr val="334155"/>
            </a:solidFill>
            <a:prstDash val="dash"/>
          </a:ln>
        </p:spPr>
      </p:sp>
      <p:sp>
        <p:nvSpPr>
          <p:cNvPr id="18" name="Shape 15"/>
          <p:cNvSpPr/>
          <p:nvPr/>
        </p:nvSpPr>
        <p:spPr>
          <a:xfrm>
            <a:off x="0" y="4937760"/>
            <a:ext cx="9144000" cy="205740"/>
          </a:xfrm>
          <a:prstGeom prst="rect">
            <a:avLst/>
          </a:prstGeom>
          <a:solidFill>
            <a:srgbClr val="1E293B"/>
          </a:solidFill>
          <a:ln w="12700">
            <a:solidFill>
              <a:srgbClr val="1E293B"/>
            </a:solidFill>
            <a:prstDash val="solid"/>
          </a:ln>
        </p:spPr>
      </p:sp>
      <p:sp>
        <p:nvSpPr>
          <p:cNvPr id="19" name="Text 16"/>
          <p:cNvSpPr/>
          <p:nvPr/>
        </p:nvSpPr>
        <p:spPr>
          <a:xfrm>
            <a:off x="365760" y="4937760"/>
            <a:ext cx="5486400" cy="2057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CodeQL Proof  ·  JPA vs Quarkus/Panache</a:t>
            </a:r>
            <a:endParaRPr lang="en-US" sz="900" dirty="0"/>
          </a:p>
        </p:txBody>
      </p:sp>
      <p:sp>
        <p:nvSpPr>
          <p:cNvPr id="20" name="Text 17"/>
          <p:cNvSpPr/>
          <p:nvPr/>
        </p:nvSpPr>
        <p:spPr>
          <a:xfrm>
            <a:off x="7863840" y="4937760"/>
            <a:ext cx="914400" cy="20574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1000" b="1" spc="400" kern="0" dirty="0">
                <a:solidFill>
                  <a:srgbClr val="38BDF8"/>
                </a:solidFill>
                <a:latin typeface="Calibri" pitchFamily="34" charset="0"/>
                <a:ea typeface="Calibri" pitchFamily="34" charset="-122"/>
                <a:cs typeface="Calibri" pitchFamily="34" charset="-120"/>
              </a:rPr>
              <a:t>PROOF 1  ·  CONTROL CASE</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Baseline CodeQL already detects the JPA sink</a:t>
            </a:r>
            <a:endParaRPr lang="en-US" sz="2800" dirty="0"/>
          </a:p>
        </p:txBody>
      </p:sp>
      <p:sp>
        <p:nvSpPr>
          <p:cNvPr id="4" name="Shape 2"/>
          <p:cNvSpPr/>
          <p:nvPr/>
        </p:nvSpPr>
        <p:spPr>
          <a:xfrm>
            <a:off x="457200" y="1280160"/>
            <a:ext cx="5029200" cy="2743200"/>
          </a:xfrm>
          <a:prstGeom prst="rect">
            <a:avLst/>
          </a:prstGeom>
          <a:solidFill>
            <a:srgbClr val="111827"/>
          </a:solidFill>
          <a:ln w="9525">
            <a:solidFill>
              <a:srgbClr val="334155"/>
            </a:solidFill>
            <a:prstDash val="solid"/>
          </a:ln>
        </p:spPr>
      </p:sp>
      <p:sp>
        <p:nvSpPr>
          <p:cNvPr id="5" name="Text 3"/>
          <p:cNvSpPr/>
          <p:nvPr/>
        </p:nvSpPr>
        <p:spPr>
          <a:xfrm>
            <a:off x="502920" y="1325880"/>
            <a:ext cx="640080" cy="201168"/>
          </a:xfrm>
          <a:prstGeom prst="rect">
            <a:avLst/>
          </a:prstGeom>
          <a:noFill/>
          <a:ln/>
        </p:spPr>
        <p:txBody>
          <a:bodyPr wrap="square" lIns="0" tIns="0" rIns="0" bIns="0" rtlCol="0" anchor="ctr"/>
          <a:lstStyle/>
          <a:p>
            <a:pPr algn="l" indent="0" marL="0">
              <a:buNone/>
            </a:pPr>
            <a:r>
              <a:rPr lang="en-US" sz="800" dirty="0">
                <a:solidFill>
                  <a:srgbClr val="94A3B8"/>
                </a:solidFill>
                <a:latin typeface="Consolas" pitchFamily="34" charset="0"/>
                <a:ea typeface="Consolas" pitchFamily="34" charset="-122"/>
                <a:cs typeface="Consolas" pitchFamily="34" charset="-120"/>
              </a:rPr>
              <a:t>java</a:t>
            </a:r>
            <a:endParaRPr lang="en-US" sz="800" dirty="0"/>
          </a:p>
        </p:txBody>
      </p:sp>
      <p:sp>
        <p:nvSpPr>
          <p:cNvPr id="6" name="Text 4"/>
          <p:cNvSpPr/>
          <p:nvPr/>
        </p:nvSpPr>
        <p:spPr>
          <a:xfrm>
            <a:off x="594360" y="1554480"/>
            <a:ext cx="4754880" cy="2377440"/>
          </a:xfrm>
          <a:prstGeom prst="rect">
            <a:avLst/>
          </a:prstGeom>
          <a:noFill/>
          <a:ln/>
        </p:spPr>
        <p:txBody>
          <a:bodyPr wrap="square" lIns="0" tIns="0" rIns="0" bIns="0" rtlCol="0" anchor="t"/>
          <a:lstStyle/>
          <a:p>
            <a:pPr indent="0" marL="0">
              <a:buNone/>
            </a:pPr>
            <a:r>
              <a:rPr lang="en-US" sz="1100" dirty="0">
                <a:solidFill>
                  <a:srgbClr val="C084FC"/>
                </a:solidFill>
                <a:latin typeface="Consolas" pitchFamily="34" charset="0"/>
                <a:ea typeface="Consolas" pitchFamily="34" charset="-122"/>
                <a:cs typeface="Consolas" pitchFamily="34" charset="-120"/>
              </a:rPr>
              <a:t>public static</a:t>
            </a:r>
            <a:pPr indent="0" marL="0">
              <a:buNone/>
            </a:pPr>
            <a:r>
              <a:rPr lang="en-US" sz="1100" dirty="0">
                <a:solidFill>
                  <a:srgbClr val="F1F5F9"/>
                </a:solidFill>
                <a:latin typeface="Consolas" pitchFamily="34" charset="0"/>
                <a:ea typeface="Consolas" pitchFamily="34" charset="-122"/>
                <a:cs typeface="Consolas" pitchFamily="34" charset="-120"/>
              </a:rPr>
              <a:t> findByDoctypeUnsafe(String doctype) {</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EntityManager em = Arc.container()</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.instance(EntityManager.</a:t>
            </a:r>
            <a:pPr indent="0" marL="0">
              <a:buNone/>
            </a:pPr>
            <a:r>
              <a:rPr lang="en-US" sz="1100" dirty="0">
                <a:solidFill>
                  <a:srgbClr val="C084FC"/>
                </a:solidFill>
                <a:latin typeface="Consolas" pitchFamily="34" charset="0"/>
                <a:ea typeface="Consolas" pitchFamily="34" charset="-122"/>
                <a:cs typeface="Consolas" pitchFamily="34" charset="-120"/>
              </a:rPr>
              <a:t>class</a:t>
            </a:r>
            <a:pPr indent="0" marL="0">
              <a:buNone/>
            </a:pPr>
            <a:r>
              <a:rPr lang="en-US" sz="1100" dirty="0">
                <a:solidFill>
                  <a:srgbClr val="F1F5F9"/>
                </a:solidFill>
                <a:latin typeface="Consolas" pitchFamily="34" charset="0"/>
                <a:ea typeface="Consolas" pitchFamily="34" charset="-122"/>
                <a:cs typeface="Consolas" pitchFamily="34" charset="-120"/>
              </a:rPr>
              <a:t>).get();</a:t>
            </a:r>
            <a:endParaRPr lang="en-US" sz="1100" dirty="0"/>
          </a:p>
          <a:p>
            <a:pPr indent="0" marL="0">
              <a:buNone/>
            </a:pP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String sql = </a:t>
            </a:r>
            <a:pPr indent="0" marL="0">
              <a:buNone/>
            </a:pPr>
            <a:r>
              <a:rPr lang="en-US" sz="1100" dirty="0">
                <a:solidFill>
                  <a:srgbClr val="FCD34D"/>
                </a:solidFill>
                <a:latin typeface="Consolas" pitchFamily="34" charset="0"/>
                <a:ea typeface="Consolas" pitchFamily="34" charset="-122"/>
                <a:cs typeface="Consolas" pitchFamily="34" charset="-120"/>
              </a:rPr>
              <a:t>"SELECT * FROM ... WHERE id = '"</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 doctype + </a:t>
            </a:r>
            <a:pPr indent="0" marL="0">
              <a:buNone/>
            </a:pPr>
            <a:r>
              <a:rPr lang="en-US" sz="1100" dirty="0">
                <a:solidFill>
                  <a:srgbClr val="FCD34D"/>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return em.</a:t>
            </a:r>
            <a:pPr indent="0" marL="0">
              <a:buNone/>
            </a:pPr>
            <a:r>
              <a:rPr lang="en-US" sz="1100" dirty="0">
                <a:solidFill>
                  <a:srgbClr val="EF4444"/>
                </a:solidFill>
                <a:latin typeface="Consolas" pitchFamily="34" charset="0"/>
                <a:ea typeface="Consolas" pitchFamily="34" charset="-122"/>
                <a:cs typeface="Consolas" pitchFamily="34" charset="-120"/>
              </a:rPr>
              <a:t>createNativeQuery</a:t>
            </a:r>
            <a:pPr indent="0" marL="0">
              <a:buNone/>
            </a:pPr>
            <a:r>
              <a:rPr lang="en-US" sz="1100" dirty="0">
                <a:solidFill>
                  <a:srgbClr val="F1F5F9"/>
                </a:solidFill>
                <a:latin typeface="Consolas" pitchFamily="34" charset="0"/>
                <a:ea typeface="Consolas" pitchFamily="34" charset="-122"/>
                <a:cs typeface="Consolas" pitchFamily="34" charset="-120"/>
              </a:rPr>
              <a:t>(sql, ...).getSingleResult();</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a:t>
            </a:r>
            <a:endParaRPr lang="en-US" sz="1100" dirty="0"/>
          </a:p>
        </p:txBody>
      </p:sp>
      <p:sp>
        <p:nvSpPr>
          <p:cNvPr id="7" name="Shape 5"/>
          <p:cNvSpPr/>
          <p:nvPr/>
        </p:nvSpPr>
        <p:spPr>
          <a:xfrm>
            <a:off x="5669280" y="1280160"/>
            <a:ext cx="3017520" cy="2743200"/>
          </a:xfrm>
          <a:prstGeom prst="rect">
            <a:avLst/>
          </a:prstGeom>
          <a:solidFill>
            <a:srgbClr val="1E293B"/>
          </a:solidFill>
          <a:ln w="12700">
            <a:solidFill>
              <a:srgbClr val="334155"/>
            </a:solidFill>
            <a:prstDash val="solid"/>
          </a:ln>
        </p:spPr>
      </p:sp>
      <p:sp>
        <p:nvSpPr>
          <p:cNvPr id="8" name="Shape 6"/>
          <p:cNvSpPr/>
          <p:nvPr/>
        </p:nvSpPr>
        <p:spPr>
          <a:xfrm>
            <a:off x="5669280" y="1280160"/>
            <a:ext cx="3017520" cy="73152"/>
          </a:xfrm>
          <a:prstGeom prst="rect">
            <a:avLst/>
          </a:prstGeom>
          <a:solidFill>
            <a:srgbClr val="10B981"/>
          </a:solidFill>
          <a:ln w="12700">
            <a:solidFill>
              <a:srgbClr val="10B981"/>
            </a:solidFill>
            <a:prstDash val="solid"/>
          </a:ln>
        </p:spPr>
      </p:sp>
      <p:sp>
        <p:nvSpPr>
          <p:cNvPr id="9" name="Text 7"/>
          <p:cNvSpPr/>
          <p:nvPr/>
        </p:nvSpPr>
        <p:spPr>
          <a:xfrm>
            <a:off x="5852160" y="1444752"/>
            <a:ext cx="2651760" cy="274320"/>
          </a:xfrm>
          <a:prstGeom prst="rect">
            <a:avLst/>
          </a:prstGeom>
          <a:noFill/>
          <a:ln/>
        </p:spPr>
        <p:txBody>
          <a:bodyPr wrap="square" lIns="0" tIns="0" rIns="0" bIns="0" rtlCol="0" anchor="ctr"/>
          <a:lstStyle/>
          <a:p>
            <a:pPr indent="0" marL="0">
              <a:buNone/>
            </a:pPr>
            <a:r>
              <a:rPr lang="en-US" sz="1000" b="1" spc="300" kern="0" dirty="0">
                <a:solidFill>
                  <a:srgbClr val="10B981"/>
                </a:solidFill>
                <a:latin typeface="Calibri" pitchFamily="34" charset="0"/>
                <a:ea typeface="Calibri" pitchFamily="34" charset="-122"/>
                <a:cs typeface="Calibri" pitchFamily="34" charset="-120"/>
              </a:rPr>
              <a:t>BASELINE RESULT</a:t>
            </a:r>
            <a:endParaRPr lang="en-US" sz="1000" dirty="0"/>
          </a:p>
        </p:txBody>
      </p:sp>
      <p:sp>
        <p:nvSpPr>
          <p:cNvPr id="10" name="Text 8"/>
          <p:cNvSpPr/>
          <p:nvPr/>
        </p:nvSpPr>
        <p:spPr>
          <a:xfrm>
            <a:off x="5852160" y="1737360"/>
            <a:ext cx="2651760" cy="914400"/>
          </a:xfrm>
          <a:prstGeom prst="rect">
            <a:avLst/>
          </a:prstGeom>
          <a:noFill/>
          <a:ln/>
        </p:spPr>
        <p:txBody>
          <a:bodyPr wrap="square" lIns="0" tIns="0" rIns="0" bIns="0" rtlCol="0" anchor="ctr"/>
          <a:lstStyle/>
          <a:p>
            <a:pPr indent="0" marL="0">
              <a:buNone/>
            </a:pPr>
            <a:r>
              <a:rPr lang="en-US" sz="6400" b="1" dirty="0">
                <a:solidFill>
                  <a:srgbClr val="F1F5F9"/>
                </a:solidFill>
                <a:latin typeface="Cambria" pitchFamily="34" charset="0"/>
                <a:ea typeface="Cambria" pitchFamily="34" charset="-122"/>
                <a:cs typeface="Cambria" pitchFamily="34" charset="-120"/>
              </a:rPr>
              <a:t>1</a:t>
            </a:r>
            <a:endParaRPr lang="en-US" sz="6400" dirty="0"/>
          </a:p>
        </p:txBody>
      </p:sp>
      <p:sp>
        <p:nvSpPr>
          <p:cNvPr id="11" name="Text 9"/>
          <p:cNvSpPr/>
          <p:nvPr/>
        </p:nvSpPr>
        <p:spPr>
          <a:xfrm>
            <a:off x="5852160" y="2697480"/>
            <a:ext cx="265176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finding</a:t>
            </a:r>
            <a:endParaRPr lang="en-US" sz="1200" dirty="0"/>
          </a:p>
        </p:txBody>
      </p:sp>
      <p:sp>
        <p:nvSpPr>
          <p:cNvPr id="12" name="Text 10"/>
          <p:cNvSpPr/>
          <p:nvPr/>
        </p:nvSpPr>
        <p:spPr>
          <a:xfrm>
            <a:off x="5852160" y="3063240"/>
            <a:ext cx="2651760" cy="822960"/>
          </a:xfrm>
          <a:prstGeom prst="rect">
            <a:avLst/>
          </a:prstGeom>
          <a:noFill/>
          <a:ln/>
        </p:spPr>
        <p:txBody>
          <a:bodyPr wrap="square" lIns="0" tIns="0" rIns="0" bIns="0" rtlCol="0" anchor="t"/>
          <a:lstStyle/>
          <a:p>
            <a:pPr indent="0" marL="0">
              <a:buNone/>
            </a:pPr>
            <a:r>
              <a:rPr lang="en-US" sz="1000" dirty="0">
                <a:solidFill>
                  <a:srgbClr val="38BDF8"/>
                </a:solidFill>
                <a:latin typeface="Consolas" pitchFamily="34" charset="0"/>
                <a:ea typeface="Consolas" pitchFamily="34" charset="-122"/>
                <a:cs typeface="Consolas" pitchFamily="34" charset="-120"/>
              </a:rPr>
              <a:t>java/sql-injection</a:t>
            </a:r>
            <a:endParaRPr lang="en-US" sz="1000" dirty="0"/>
          </a:p>
          <a:p>
            <a:pPr indent="0" marL="0">
              <a:buNone/>
            </a:pPr>
            <a:r>
              <a:rPr lang="en-US" sz="900" dirty="0">
                <a:solidFill>
                  <a:srgbClr val="94A3B8"/>
                </a:solidFill>
                <a:latin typeface="Consolas" pitchFamily="34" charset="0"/>
                <a:ea typeface="Consolas" pitchFamily="34" charset="-122"/>
                <a:cs typeface="Consolas" pitchFamily="34" charset="-120"/>
              </a:rPr>
              <a:t>DoctypeShareFolderMapping.java</a:t>
            </a:r>
            <a:endParaRPr lang="en-US" sz="1000" dirty="0"/>
          </a:p>
          <a:p>
            <a:pPr indent="0" marL="0">
              <a:buNone/>
            </a:pPr>
            <a:r>
              <a:rPr lang="en-US" sz="900" dirty="0">
                <a:solidFill>
                  <a:srgbClr val="64748B"/>
                </a:solidFill>
                <a:latin typeface="Consolas" pitchFamily="34" charset="0"/>
                <a:ea typeface="Consolas" pitchFamily="34" charset="-122"/>
                <a:cs typeface="Consolas" pitchFamily="34" charset="-120"/>
              </a:rPr>
              <a:t>line 35:36</a:t>
            </a:r>
            <a:endParaRPr lang="en-US" sz="1000" dirty="0"/>
          </a:p>
        </p:txBody>
      </p:sp>
      <p:sp>
        <p:nvSpPr>
          <p:cNvPr id="13" name="Text 11"/>
          <p:cNvSpPr/>
          <p:nvPr/>
        </p:nvSpPr>
        <p:spPr>
          <a:xfrm>
            <a:off x="457200" y="4206240"/>
            <a:ext cx="8229600" cy="548640"/>
          </a:xfrm>
          <a:prstGeom prst="rect">
            <a:avLst/>
          </a:prstGeom>
          <a:noFill/>
          <a:ln/>
        </p:spPr>
        <p:txBody>
          <a:bodyPr wrap="square" lIns="0" tIns="0" rIns="0" bIns="0" rtlCol="0" anchor="t"/>
          <a:lstStyle/>
          <a:p>
            <a:pPr algn="l" indent="0" marL="0">
              <a:buNone/>
            </a:pPr>
            <a:r>
              <a:rPr lang="en-US" sz="1200" i="1" dirty="0">
                <a:solidFill>
                  <a:srgbClr val="94A3B8"/>
                </a:solidFill>
                <a:latin typeface="Calibri" pitchFamily="34" charset="0"/>
                <a:ea typeface="Calibri" pitchFamily="34" charset="-122"/>
                <a:cs typeface="Calibri" pitchFamily="34" charset="-120"/>
              </a:rPr>
              <a:t>The sink is standard Jakarta Persistence — already modeled by CodeQL. No custom Quarkus model pack required for this pattern.</a:t>
            </a:r>
            <a:endParaRPr lang="en-US" sz="1200" dirty="0"/>
          </a:p>
        </p:txBody>
      </p:sp>
      <p:sp>
        <p:nvSpPr>
          <p:cNvPr id="15" name="Shape 12"/>
          <p:cNvSpPr/>
          <p:nvPr/>
        </p:nvSpPr>
        <p:spPr>
          <a:xfrm>
            <a:off x="0" y="4937760"/>
            <a:ext cx="9144000" cy="205740"/>
          </a:xfrm>
          <a:prstGeom prst="rect">
            <a:avLst/>
          </a:prstGeom>
          <a:solidFill>
            <a:srgbClr val="1E293B"/>
          </a:solidFill>
          <a:ln w="12700">
            <a:solidFill>
              <a:srgbClr val="1E293B"/>
            </a:solidFill>
            <a:prstDash val="solid"/>
          </a:ln>
        </p:spPr>
      </p:sp>
      <p:sp>
        <p:nvSpPr>
          <p:cNvPr id="16" name="Text 13"/>
          <p:cNvSpPr/>
          <p:nvPr/>
        </p:nvSpPr>
        <p:spPr>
          <a:xfrm>
            <a:off x="365760" y="4937760"/>
            <a:ext cx="5486400" cy="2057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CodeQL Proof  ·  JPA vs Quarkus/Panache</a:t>
            </a:r>
            <a:endParaRPr lang="en-US" sz="900" dirty="0"/>
          </a:p>
        </p:txBody>
      </p:sp>
      <p:sp>
        <p:nvSpPr>
          <p:cNvPr id="17" name="Text 14"/>
          <p:cNvSpPr/>
          <p:nvPr/>
        </p:nvSpPr>
        <p:spPr>
          <a:xfrm>
            <a:off x="7863840" y="4937760"/>
            <a:ext cx="914400" cy="20574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1000" b="1" spc="400" kern="0" dirty="0">
                <a:solidFill>
                  <a:srgbClr val="38BDF8"/>
                </a:solidFill>
                <a:latin typeface="Calibri" pitchFamily="34" charset="0"/>
                <a:ea typeface="Calibri" pitchFamily="34" charset="-122"/>
                <a:cs typeface="Calibri" pitchFamily="34" charset="-120"/>
              </a:rPr>
              <a:t>PROOF 2  ·  THE GAP</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Baseline CodeQL misses the Panache sink</a:t>
            </a:r>
            <a:endParaRPr lang="en-US" sz="2800" dirty="0"/>
          </a:p>
        </p:txBody>
      </p:sp>
      <p:sp>
        <p:nvSpPr>
          <p:cNvPr id="4" name="Shape 2"/>
          <p:cNvSpPr/>
          <p:nvPr/>
        </p:nvSpPr>
        <p:spPr>
          <a:xfrm>
            <a:off x="457200" y="1280160"/>
            <a:ext cx="5029200" cy="2194560"/>
          </a:xfrm>
          <a:prstGeom prst="rect">
            <a:avLst/>
          </a:prstGeom>
          <a:solidFill>
            <a:srgbClr val="111827"/>
          </a:solidFill>
          <a:ln w="9525">
            <a:solidFill>
              <a:srgbClr val="334155"/>
            </a:solidFill>
            <a:prstDash val="solid"/>
          </a:ln>
        </p:spPr>
      </p:sp>
      <p:sp>
        <p:nvSpPr>
          <p:cNvPr id="5" name="Text 3"/>
          <p:cNvSpPr/>
          <p:nvPr/>
        </p:nvSpPr>
        <p:spPr>
          <a:xfrm>
            <a:off x="502920" y="1325880"/>
            <a:ext cx="640080" cy="201168"/>
          </a:xfrm>
          <a:prstGeom prst="rect">
            <a:avLst/>
          </a:prstGeom>
          <a:noFill/>
          <a:ln/>
        </p:spPr>
        <p:txBody>
          <a:bodyPr wrap="square" lIns="0" tIns="0" rIns="0" bIns="0" rtlCol="0" anchor="ctr"/>
          <a:lstStyle/>
          <a:p>
            <a:pPr algn="l" indent="0" marL="0">
              <a:buNone/>
            </a:pPr>
            <a:r>
              <a:rPr lang="en-US" sz="800" dirty="0">
                <a:solidFill>
                  <a:srgbClr val="94A3B8"/>
                </a:solidFill>
                <a:latin typeface="Consolas" pitchFamily="34" charset="0"/>
                <a:ea typeface="Consolas" pitchFamily="34" charset="-122"/>
                <a:cs typeface="Consolas" pitchFamily="34" charset="-120"/>
              </a:rPr>
              <a:t>java</a:t>
            </a:r>
            <a:endParaRPr lang="en-US" sz="800" dirty="0"/>
          </a:p>
        </p:txBody>
      </p:sp>
      <p:sp>
        <p:nvSpPr>
          <p:cNvPr id="6" name="Text 4"/>
          <p:cNvSpPr/>
          <p:nvPr/>
        </p:nvSpPr>
        <p:spPr>
          <a:xfrm>
            <a:off x="594360" y="1554480"/>
            <a:ext cx="4754880" cy="1828800"/>
          </a:xfrm>
          <a:prstGeom prst="rect">
            <a:avLst/>
          </a:prstGeom>
          <a:noFill/>
          <a:ln/>
        </p:spPr>
        <p:txBody>
          <a:bodyPr wrap="square" lIns="0" tIns="0" rIns="0" bIns="0" rtlCol="0" anchor="t"/>
          <a:lstStyle/>
          <a:p>
            <a:pPr indent="0" marL="0">
              <a:buNone/>
            </a:pPr>
            <a:r>
              <a:rPr lang="en-US" sz="1100" dirty="0">
                <a:solidFill>
                  <a:srgbClr val="C084FC"/>
                </a:solidFill>
                <a:latin typeface="Consolas" pitchFamily="34" charset="0"/>
                <a:ea typeface="Consolas" pitchFamily="34" charset="-122"/>
                <a:cs typeface="Consolas" pitchFamily="34" charset="-120"/>
              </a:rPr>
              <a:t>public static</a:t>
            </a:r>
            <a:pPr indent="0" marL="0">
              <a:buNone/>
            </a:pPr>
            <a:r>
              <a:rPr lang="en-US" sz="1100" dirty="0">
                <a:solidFill>
                  <a:srgbClr val="F1F5F9"/>
                </a:solidFill>
                <a:latin typeface="Consolas" pitchFamily="34" charset="0"/>
                <a:ea typeface="Consolas" pitchFamily="34" charset="-122"/>
                <a:cs typeface="Consolas" pitchFamily="34" charset="-120"/>
              </a:rPr>
              <a:t> List&lt;...&gt; findByDoctypePanacheUnsafe(</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String doctype) {</a:t>
            </a:r>
            <a:endParaRPr lang="en-US" sz="1100" dirty="0"/>
          </a:p>
          <a:p>
            <a:pPr indent="0" marL="0">
              <a:buNone/>
            </a:pP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String query = </a:t>
            </a:r>
            <a:pPr indent="0" marL="0">
              <a:buNone/>
            </a:pPr>
            <a:r>
              <a:rPr lang="en-US" sz="1100" dirty="0">
                <a:solidFill>
                  <a:srgbClr val="FCD34D"/>
                </a:solidFill>
                <a:latin typeface="Consolas" pitchFamily="34" charset="0"/>
                <a:ea typeface="Consolas" pitchFamily="34" charset="-122"/>
                <a:cs typeface="Consolas" pitchFamily="34" charset="-120"/>
              </a:rPr>
              <a:t>"doctypeId = '"</a:t>
            </a:r>
            <a:pPr indent="0" marL="0">
              <a:buNone/>
            </a:pPr>
            <a:r>
              <a:rPr lang="en-US" sz="1100" dirty="0">
                <a:solidFill>
                  <a:srgbClr val="F1F5F9"/>
                </a:solidFill>
                <a:latin typeface="Consolas" pitchFamily="34" charset="0"/>
                <a:ea typeface="Consolas" pitchFamily="34" charset="-122"/>
                <a:cs typeface="Consolas" pitchFamily="34" charset="-120"/>
              </a:rPr>
              <a:t> + doctype + </a:t>
            </a:r>
            <a:pPr indent="0" marL="0">
              <a:buNone/>
            </a:pPr>
            <a:r>
              <a:rPr lang="en-US" sz="1100" dirty="0">
                <a:solidFill>
                  <a:srgbClr val="FCD34D"/>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C084FC"/>
                </a:solidFill>
                <a:latin typeface="Consolas" pitchFamily="34" charset="0"/>
                <a:ea typeface="Consolas" pitchFamily="34" charset="-122"/>
                <a:cs typeface="Consolas" pitchFamily="34" charset="-120"/>
              </a:rPr>
              <a:t>  return </a:t>
            </a:r>
            <a:pPr indent="0" marL="0">
              <a:buNone/>
            </a:pPr>
            <a:r>
              <a:rPr lang="en-US" sz="1100" dirty="0">
                <a:solidFill>
                  <a:srgbClr val="EF4444"/>
                </a:solidFill>
                <a:latin typeface="Consolas" pitchFamily="34" charset="0"/>
                <a:ea typeface="Consolas" pitchFamily="34" charset="-122"/>
                <a:cs typeface="Consolas" pitchFamily="34" charset="-120"/>
              </a:rPr>
              <a:t>list</a:t>
            </a:r>
            <a:pPr indent="0" marL="0">
              <a:buNone/>
            </a:pPr>
            <a:r>
              <a:rPr lang="en-US" sz="1100" dirty="0">
                <a:solidFill>
                  <a:srgbClr val="F1F5F9"/>
                </a:solidFill>
                <a:latin typeface="Consolas" pitchFamily="34" charset="0"/>
                <a:ea typeface="Consolas" pitchFamily="34" charset="-122"/>
                <a:cs typeface="Consolas" pitchFamily="34" charset="-120"/>
              </a:rPr>
              <a:t>(query); </a:t>
            </a:r>
            <a:pPr indent="0" marL="0">
              <a:buNone/>
            </a:pPr>
            <a:r>
              <a:rPr lang="en-US" sz="1100" dirty="0">
                <a:solidFill>
                  <a:srgbClr val="64748B"/>
                </a:solidFill>
                <a:latin typeface="Consolas" pitchFamily="34" charset="0"/>
                <a:ea typeface="Consolas" pitchFamily="34" charset="-122"/>
                <a:cs typeface="Consolas" pitchFamily="34" charset="-120"/>
              </a:rPr>
              <a:t>// not modeled</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a:t>
            </a:r>
            <a:endParaRPr lang="en-US" sz="1100" dirty="0"/>
          </a:p>
        </p:txBody>
      </p:sp>
      <p:sp>
        <p:nvSpPr>
          <p:cNvPr id="7" name="Shape 5"/>
          <p:cNvSpPr/>
          <p:nvPr/>
        </p:nvSpPr>
        <p:spPr>
          <a:xfrm>
            <a:off x="5669280" y="1280160"/>
            <a:ext cx="3017520" cy="2194560"/>
          </a:xfrm>
          <a:prstGeom prst="rect">
            <a:avLst/>
          </a:prstGeom>
          <a:solidFill>
            <a:srgbClr val="1E293B"/>
          </a:solidFill>
          <a:ln w="12700">
            <a:solidFill>
              <a:srgbClr val="334155"/>
            </a:solidFill>
            <a:prstDash val="solid"/>
          </a:ln>
        </p:spPr>
      </p:sp>
      <p:sp>
        <p:nvSpPr>
          <p:cNvPr id="8" name="Shape 6"/>
          <p:cNvSpPr/>
          <p:nvPr/>
        </p:nvSpPr>
        <p:spPr>
          <a:xfrm>
            <a:off x="5669280" y="1280160"/>
            <a:ext cx="3017520" cy="73152"/>
          </a:xfrm>
          <a:prstGeom prst="rect">
            <a:avLst/>
          </a:prstGeom>
          <a:solidFill>
            <a:srgbClr val="EF4444"/>
          </a:solidFill>
          <a:ln w="12700">
            <a:solidFill>
              <a:srgbClr val="EF4444"/>
            </a:solidFill>
            <a:prstDash val="solid"/>
          </a:ln>
        </p:spPr>
      </p:sp>
      <p:sp>
        <p:nvSpPr>
          <p:cNvPr id="9" name="Text 7"/>
          <p:cNvSpPr/>
          <p:nvPr/>
        </p:nvSpPr>
        <p:spPr>
          <a:xfrm>
            <a:off x="5852160" y="1444752"/>
            <a:ext cx="2651760" cy="274320"/>
          </a:xfrm>
          <a:prstGeom prst="rect">
            <a:avLst/>
          </a:prstGeom>
          <a:noFill/>
          <a:ln/>
        </p:spPr>
        <p:txBody>
          <a:bodyPr wrap="square" lIns="0" tIns="0" rIns="0" bIns="0" rtlCol="0" anchor="ctr"/>
          <a:lstStyle/>
          <a:p>
            <a:pPr indent="0" marL="0">
              <a:buNone/>
            </a:pPr>
            <a:r>
              <a:rPr lang="en-US" sz="1000" b="1" spc="300" kern="0" dirty="0">
                <a:solidFill>
                  <a:srgbClr val="EF4444"/>
                </a:solidFill>
                <a:latin typeface="Calibri" pitchFamily="34" charset="0"/>
                <a:ea typeface="Calibri" pitchFamily="34" charset="-122"/>
                <a:cs typeface="Calibri" pitchFamily="34" charset="-120"/>
              </a:rPr>
              <a:t>BASELINE RESULT</a:t>
            </a:r>
            <a:endParaRPr lang="en-US" sz="1000" dirty="0"/>
          </a:p>
        </p:txBody>
      </p:sp>
      <p:sp>
        <p:nvSpPr>
          <p:cNvPr id="10" name="Text 8"/>
          <p:cNvSpPr/>
          <p:nvPr/>
        </p:nvSpPr>
        <p:spPr>
          <a:xfrm>
            <a:off x="5852160" y="1691640"/>
            <a:ext cx="2651760" cy="914400"/>
          </a:xfrm>
          <a:prstGeom prst="rect">
            <a:avLst/>
          </a:prstGeom>
          <a:noFill/>
          <a:ln/>
        </p:spPr>
        <p:txBody>
          <a:bodyPr wrap="square" lIns="0" tIns="0" rIns="0" bIns="0" rtlCol="0" anchor="ctr"/>
          <a:lstStyle/>
          <a:p>
            <a:pPr indent="0" marL="0">
              <a:buNone/>
            </a:pPr>
            <a:r>
              <a:rPr lang="en-US" sz="6400" b="1" dirty="0">
                <a:solidFill>
                  <a:srgbClr val="F1F5F9"/>
                </a:solidFill>
                <a:latin typeface="Cambria" pitchFamily="34" charset="0"/>
                <a:ea typeface="Cambria" pitchFamily="34" charset="-122"/>
                <a:cs typeface="Cambria" pitchFamily="34" charset="-120"/>
              </a:rPr>
              <a:t>0</a:t>
            </a:r>
            <a:endParaRPr lang="en-US" sz="6400" dirty="0"/>
          </a:p>
        </p:txBody>
      </p:sp>
      <p:sp>
        <p:nvSpPr>
          <p:cNvPr id="11" name="Text 9"/>
          <p:cNvSpPr/>
          <p:nvPr/>
        </p:nvSpPr>
        <p:spPr>
          <a:xfrm>
            <a:off x="5852160" y="2651760"/>
            <a:ext cx="265176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Panache findings</a:t>
            </a:r>
            <a:endParaRPr lang="en-US" sz="1200" dirty="0"/>
          </a:p>
        </p:txBody>
      </p:sp>
      <p:sp>
        <p:nvSpPr>
          <p:cNvPr id="12" name="Text 10"/>
          <p:cNvSpPr/>
          <p:nvPr/>
        </p:nvSpPr>
        <p:spPr>
          <a:xfrm>
            <a:off x="5852160" y="2971800"/>
            <a:ext cx="2651760" cy="457200"/>
          </a:xfrm>
          <a:prstGeom prst="rect">
            <a:avLst/>
          </a:prstGeom>
          <a:noFill/>
          <a:ln/>
        </p:spPr>
        <p:txBody>
          <a:bodyPr wrap="square" lIns="0" tIns="0" rIns="0" bIns="0" rtlCol="0" anchor="t"/>
          <a:lstStyle/>
          <a:p>
            <a:pPr indent="0" marL="0">
              <a:buNone/>
            </a:pPr>
            <a:r>
              <a:rPr lang="en-US" sz="1000" i="1" dirty="0">
                <a:solidFill>
                  <a:srgbClr val="64748B"/>
                </a:solidFill>
                <a:latin typeface="Calibri" pitchFamily="34" charset="0"/>
                <a:ea typeface="Calibri" pitchFamily="34" charset="-122"/>
                <a:cs typeface="Calibri" pitchFamily="34" charset="-120"/>
              </a:rPr>
              <a:t>Sink is the framework helper — not modeled out of the box.</a:t>
            </a:r>
            <a:endParaRPr lang="en-US" sz="1000" dirty="0"/>
          </a:p>
        </p:txBody>
      </p:sp>
      <p:sp>
        <p:nvSpPr>
          <p:cNvPr id="13" name="Shape 11"/>
          <p:cNvSpPr/>
          <p:nvPr/>
        </p:nvSpPr>
        <p:spPr>
          <a:xfrm>
            <a:off x="457200" y="3657600"/>
            <a:ext cx="8229600" cy="1005840"/>
          </a:xfrm>
          <a:prstGeom prst="rect">
            <a:avLst/>
          </a:prstGeom>
          <a:solidFill>
            <a:srgbClr val="111827"/>
          </a:solidFill>
          <a:ln w="9525">
            <a:solidFill>
              <a:srgbClr val="334155"/>
            </a:solidFill>
            <a:prstDash val="solid"/>
          </a:ln>
        </p:spPr>
      </p:sp>
      <p:sp>
        <p:nvSpPr>
          <p:cNvPr id="14" name="Text 12"/>
          <p:cNvSpPr/>
          <p:nvPr/>
        </p:nvSpPr>
        <p:spPr>
          <a:xfrm>
            <a:off x="640080" y="3749040"/>
            <a:ext cx="914400" cy="27432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Sink</a:t>
            </a:r>
            <a:endParaRPr lang="en-US" sz="1000" dirty="0"/>
          </a:p>
        </p:txBody>
      </p:sp>
      <p:sp>
        <p:nvSpPr>
          <p:cNvPr id="15" name="Text 13"/>
          <p:cNvSpPr/>
          <p:nvPr/>
        </p:nvSpPr>
        <p:spPr>
          <a:xfrm>
            <a:off x="640080" y="4023360"/>
            <a:ext cx="7863840" cy="365760"/>
          </a:xfrm>
          <a:prstGeom prst="rect">
            <a:avLst/>
          </a:prstGeom>
          <a:noFill/>
          <a:ln/>
        </p:spPr>
        <p:txBody>
          <a:bodyPr wrap="square" lIns="0" tIns="0" rIns="0" bIns="0" rtlCol="0" anchor="ctr"/>
          <a:lstStyle/>
          <a:p>
            <a:pPr indent="0" marL="0">
              <a:buNone/>
            </a:pPr>
            <a:r>
              <a:rPr lang="en-US" sz="1400" dirty="0">
                <a:solidFill>
                  <a:srgbClr val="F1F5F9"/>
                </a:solidFill>
                <a:latin typeface="Consolas" pitchFamily="34" charset="0"/>
                <a:ea typeface="Consolas" pitchFamily="34" charset="-122"/>
                <a:cs typeface="Consolas" pitchFamily="34" charset="-120"/>
              </a:rPr>
              <a:t>io.quarkus.hibernate.orm.panache.PanacheEntityBase.list(...)</a:t>
            </a:r>
            <a:endParaRPr lang="en-US" sz="1400" dirty="0"/>
          </a:p>
        </p:txBody>
      </p:sp>
      <p:sp>
        <p:nvSpPr>
          <p:cNvPr id="16" name="Text 14"/>
          <p:cNvSpPr/>
          <p:nvPr/>
        </p:nvSpPr>
        <p:spPr>
          <a:xfrm>
            <a:off x="640080" y="4370832"/>
            <a:ext cx="786384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Same source. Same concatenation. Different sink — and CodeQL does not treat it as a SQL/HQL execution sink.</a:t>
            </a:r>
            <a:endParaRPr lang="en-US" sz="1000" dirty="0"/>
          </a:p>
        </p:txBody>
      </p:sp>
      <p:sp>
        <p:nvSpPr>
          <p:cNvPr id="18" name="Shape 15"/>
          <p:cNvSpPr/>
          <p:nvPr/>
        </p:nvSpPr>
        <p:spPr>
          <a:xfrm>
            <a:off x="0" y="4937760"/>
            <a:ext cx="9144000" cy="205740"/>
          </a:xfrm>
          <a:prstGeom prst="rect">
            <a:avLst/>
          </a:prstGeom>
          <a:solidFill>
            <a:srgbClr val="1E293B"/>
          </a:solidFill>
          <a:ln w="12700">
            <a:solidFill>
              <a:srgbClr val="1E293B"/>
            </a:solidFill>
            <a:prstDash val="solid"/>
          </a:ln>
        </p:spPr>
      </p:sp>
      <p:sp>
        <p:nvSpPr>
          <p:cNvPr id="19" name="Text 16"/>
          <p:cNvSpPr/>
          <p:nvPr/>
        </p:nvSpPr>
        <p:spPr>
          <a:xfrm>
            <a:off x="365760" y="4937760"/>
            <a:ext cx="5486400" cy="2057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CodeQL Proof  ·  JPA vs Quarkus/Panache</a:t>
            </a:r>
            <a:endParaRPr lang="en-US" sz="900" dirty="0"/>
          </a:p>
        </p:txBody>
      </p:sp>
      <p:sp>
        <p:nvSpPr>
          <p:cNvPr id="20" name="Text 17"/>
          <p:cNvSpPr/>
          <p:nvPr/>
        </p:nvSpPr>
        <p:spPr>
          <a:xfrm>
            <a:off x="7863840" y="4937760"/>
            <a:ext cx="914400" cy="20574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1000" b="1" spc="400" kern="0" dirty="0">
                <a:solidFill>
                  <a:srgbClr val="38BDF8"/>
                </a:solidFill>
                <a:latin typeface="Calibri" pitchFamily="34" charset="0"/>
                <a:ea typeface="Calibri" pitchFamily="34" charset="-122"/>
                <a:cs typeface="Calibri" pitchFamily="34" charset="-120"/>
              </a:rPr>
              <a:t>COMPARING THE FLOWS</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Same flow path, different sinks</a:t>
            </a:r>
            <a:endParaRPr lang="en-US" sz="2800" dirty="0"/>
          </a:p>
        </p:txBody>
      </p:sp>
      <p:sp>
        <p:nvSpPr>
          <p:cNvPr id="4" name="Text 2"/>
          <p:cNvSpPr/>
          <p:nvPr/>
        </p:nvSpPr>
        <p:spPr>
          <a:xfrm>
            <a:off x="457200" y="1280160"/>
            <a:ext cx="1463040" cy="365760"/>
          </a:xfrm>
          <a:prstGeom prst="rect">
            <a:avLst/>
          </a:prstGeom>
          <a:noFill/>
          <a:ln/>
        </p:spPr>
        <p:txBody>
          <a:bodyPr wrap="square" lIns="0" tIns="0" rIns="0" bIns="0" rtlCol="0" anchor="ctr"/>
          <a:lstStyle/>
          <a:p>
            <a:pPr indent="0" marL="0">
              <a:buNone/>
            </a:pPr>
            <a:r>
              <a:rPr lang="en-US" sz="1300" b="1" dirty="0">
                <a:solidFill>
                  <a:srgbClr val="10B981"/>
                </a:solidFill>
                <a:latin typeface="Cambria" pitchFamily="34" charset="0"/>
                <a:ea typeface="Cambria" pitchFamily="34" charset="-122"/>
                <a:cs typeface="Cambria" pitchFamily="34" charset="-120"/>
              </a:rPr>
              <a:t>JPA</a:t>
            </a:r>
            <a:endParaRPr lang="en-US" sz="1300" dirty="0"/>
          </a:p>
        </p:txBody>
      </p:sp>
      <p:sp>
        <p:nvSpPr>
          <p:cNvPr id="5" name="Shape 3"/>
          <p:cNvSpPr/>
          <p:nvPr/>
        </p:nvSpPr>
        <p:spPr>
          <a:xfrm>
            <a:off x="1920240" y="1325880"/>
            <a:ext cx="1463040" cy="457200"/>
          </a:xfrm>
          <a:prstGeom prst="rect">
            <a:avLst/>
          </a:prstGeom>
          <a:solidFill>
            <a:srgbClr val="1E293B"/>
          </a:solidFill>
          <a:ln w="12700">
            <a:solidFill>
              <a:srgbClr val="38BDF8"/>
            </a:solidFill>
            <a:prstDash val="solid"/>
          </a:ln>
        </p:spPr>
      </p:sp>
      <p:sp>
        <p:nvSpPr>
          <p:cNvPr id="6" name="Text 4"/>
          <p:cNvSpPr/>
          <p:nvPr/>
        </p:nvSpPr>
        <p:spPr>
          <a:xfrm>
            <a:off x="1920240" y="1325880"/>
            <a:ext cx="1463040" cy="457200"/>
          </a:xfrm>
          <a:prstGeom prst="rect">
            <a:avLst/>
          </a:prstGeom>
          <a:noFill/>
          <a:ln/>
        </p:spPr>
        <p:txBody>
          <a:bodyPr wrap="square" lIns="0" tIns="0" rIns="0" bIns="0" rtlCol="0" anchor="ctr"/>
          <a:lstStyle/>
          <a:p>
            <a:pPr algn="ctr" indent="0" marL="0">
              <a:buNone/>
            </a:pPr>
            <a:r>
              <a:rPr lang="en-US" sz="1100" dirty="0">
                <a:solidFill>
                  <a:srgbClr val="38BDF8"/>
                </a:solidFill>
                <a:latin typeface="Consolas" pitchFamily="34" charset="0"/>
                <a:ea typeface="Consolas" pitchFamily="34" charset="-122"/>
                <a:cs typeface="Consolas" pitchFamily="34" charset="-120"/>
              </a:rPr>
              <a:t>@QueryParam</a:t>
            </a:r>
            <a:endParaRPr lang="en-US" sz="1100" dirty="0"/>
          </a:p>
        </p:txBody>
      </p:sp>
      <p:sp>
        <p:nvSpPr>
          <p:cNvPr id="7" name="Shape 5"/>
          <p:cNvSpPr/>
          <p:nvPr/>
        </p:nvSpPr>
        <p:spPr>
          <a:xfrm>
            <a:off x="3429000" y="1554480"/>
            <a:ext cx="137160" cy="0"/>
          </a:xfrm>
          <a:prstGeom prst="line">
            <a:avLst/>
          </a:prstGeom>
          <a:noFill/>
          <a:ln w="12700">
            <a:solidFill>
              <a:srgbClr val="94A3B8"/>
            </a:solidFill>
            <a:prstDash val="solid"/>
          </a:ln>
        </p:spPr>
      </p:sp>
      <p:sp>
        <p:nvSpPr>
          <p:cNvPr id="8" name="Shape 6"/>
          <p:cNvSpPr/>
          <p:nvPr/>
        </p:nvSpPr>
        <p:spPr>
          <a:xfrm>
            <a:off x="3657600" y="1325880"/>
            <a:ext cx="1554480" cy="457200"/>
          </a:xfrm>
          <a:prstGeom prst="rect">
            <a:avLst/>
          </a:prstGeom>
          <a:solidFill>
            <a:srgbClr val="1E293B"/>
          </a:solidFill>
          <a:ln w="12700">
            <a:solidFill>
              <a:srgbClr val="F59E0B"/>
            </a:solidFill>
            <a:prstDash val="solid"/>
          </a:ln>
        </p:spPr>
      </p:sp>
      <p:sp>
        <p:nvSpPr>
          <p:cNvPr id="9" name="Text 7"/>
          <p:cNvSpPr/>
          <p:nvPr/>
        </p:nvSpPr>
        <p:spPr>
          <a:xfrm>
            <a:off x="3657600" y="1325880"/>
            <a:ext cx="1554480" cy="457200"/>
          </a:xfrm>
          <a:prstGeom prst="rect">
            <a:avLst/>
          </a:prstGeom>
          <a:noFill/>
          <a:ln/>
        </p:spPr>
        <p:txBody>
          <a:bodyPr wrap="square" lIns="0" tIns="0" rIns="0" bIns="0" rtlCol="0" anchor="ctr"/>
          <a:lstStyle/>
          <a:p>
            <a:pPr algn="ctr" indent="0" marL="0">
              <a:buNone/>
            </a:pPr>
            <a:r>
              <a:rPr lang="en-US" sz="1100" dirty="0">
                <a:solidFill>
                  <a:srgbClr val="F59E0B"/>
                </a:solidFill>
                <a:latin typeface="Consolas" pitchFamily="34" charset="0"/>
                <a:ea typeface="Consolas" pitchFamily="34" charset="-122"/>
                <a:cs typeface="Consolas" pitchFamily="34" charset="-120"/>
              </a:rPr>
              <a:t>concat sql</a:t>
            </a:r>
            <a:endParaRPr lang="en-US" sz="1100" dirty="0"/>
          </a:p>
        </p:txBody>
      </p:sp>
      <p:sp>
        <p:nvSpPr>
          <p:cNvPr id="10" name="Shape 8"/>
          <p:cNvSpPr/>
          <p:nvPr/>
        </p:nvSpPr>
        <p:spPr>
          <a:xfrm>
            <a:off x="5257800" y="1554480"/>
            <a:ext cx="137160" cy="0"/>
          </a:xfrm>
          <a:prstGeom prst="line">
            <a:avLst/>
          </a:prstGeom>
          <a:noFill/>
          <a:ln w="12700">
            <a:solidFill>
              <a:srgbClr val="94A3B8"/>
            </a:solidFill>
            <a:prstDash val="solid"/>
          </a:ln>
        </p:spPr>
      </p:sp>
      <p:sp>
        <p:nvSpPr>
          <p:cNvPr id="11" name="Shape 9"/>
          <p:cNvSpPr/>
          <p:nvPr/>
        </p:nvSpPr>
        <p:spPr>
          <a:xfrm>
            <a:off x="5440680" y="1325880"/>
            <a:ext cx="2194560" cy="457200"/>
          </a:xfrm>
          <a:prstGeom prst="rect">
            <a:avLst/>
          </a:prstGeom>
          <a:solidFill>
            <a:srgbClr val="1E293B"/>
          </a:solidFill>
          <a:ln w="12700">
            <a:solidFill>
              <a:srgbClr val="10B981"/>
            </a:solidFill>
            <a:prstDash val="solid"/>
          </a:ln>
        </p:spPr>
      </p:sp>
      <p:sp>
        <p:nvSpPr>
          <p:cNvPr id="12" name="Text 10"/>
          <p:cNvSpPr/>
          <p:nvPr/>
        </p:nvSpPr>
        <p:spPr>
          <a:xfrm>
            <a:off x="5440680" y="1325880"/>
            <a:ext cx="2194560" cy="457200"/>
          </a:xfrm>
          <a:prstGeom prst="rect">
            <a:avLst/>
          </a:prstGeom>
          <a:noFill/>
          <a:ln/>
        </p:spPr>
        <p:txBody>
          <a:bodyPr wrap="square" lIns="0" tIns="0" rIns="0" bIns="0" rtlCol="0" anchor="ctr"/>
          <a:lstStyle/>
          <a:p>
            <a:pPr algn="ctr" indent="0" marL="0">
              <a:buNone/>
            </a:pPr>
            <a:r>
              <a:rPr lang="en-US" sz="1100" dirty="0">
                <a:solidFill>
                  <a:srgbClr val="10B981"/>
                </a:solidFill>
                <a:latin typeface="Consolas" pitchFamily="34" charset="0"/>
                <a:ea typeface="Consolas" pitchFamily="34" charset="-122"/>
                <a:cs typeface="Consolas" pitchFamily="34" charset="-120"/>
              </a:rPr>
              <a:t>createNativeQuery</a:t>
            </a:r>
            <a:endParaRPr lang="en-US" sz="1100" dirty="0"/>
          </a:p>
        </p:txBody>
      </p:sp>
      <p:sp>
        <p:nvSpPr>
          <p:cNvPr id="13" name="Shape 11"/>
          <p:cNvSpPr/>
          <p:nvPr/>
        </p:nvSpPr>
        <p:spPr>
          <a:xfrm>
            <a:off x="7818120" y="1325880"/>
            <a:ext cx="868680" cy="457200"/>
          </a:xfrm>
          <a:prstGeom prst="rect">
            <a:avLst/>
          </a:prstGeom>
          <a:solidFill>
            <a:srgbClr val="10B981"/>
          </a:solidFill>
          <a:ln w="12700">
            <a:solidFill>
              <a:srgbClr val="10B981"/>
            </a:solidFill>
            <a:prstDash val="solid"/>
          </a:ln>
        </p:spPr>
      </p:sp>
      <p:sp>
        <p:nvSpPr>
          <p:cNvPr id="14" name="Text 12"/>
          <p:cNvSpPr/>
          <p:nvPr/>
        </p:nvSpPr>
        <p:spPr>
          <a:xfrm>
            <a:off x="7818120" y="1325880"/>
            <a:ext cx="868680" cy="457200"/>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DETECTED</a:t>
            </a:r>
            <a:endParaRPr lang="en-US" sz="1000" dirty="0"/>
          </a:p>
        </p:txBody>
      </p:sp>
      <p:sp>
        <p:nvSpPr>
          <p:cNvPr id="15" name="Shape 13"/>
          <p:cNvSpPr/>
          <p:nvPr/>
        </p:nvSpPr>
        <p:spPr>
          <a:xfrm>
            <a:off x="457200" y="2194560"/>
            <a:ext cx="8229600" cy="0"/>
          </a:xfrm>
          <a:prstGeom prst="line">
            <a:avLst/>
          </a:prstGeom>
          <a:noFill/>
          <a:ln w="9525">
            <a:solidFill>
              <a:srgbClr val="334155"/>
            </a:solidFill>
            <a:prstDash val="dash"/>
          </a:ln>
        </p:spPr>
      </p:sp>
      <p:sp>
        <p:nvSpPr>
          <p:cNvPr id="16" name="Text 14"/>
          <p:cNvSpPr/>
          <p:nvPr/>
        </p:nvSpPr>
        <p:spPr>
          <a:xfrm>
            <a:off x="457200" y="2468880"/>
            <a:ext cx="1463040" cy="365760"/>
          </a:xfrm>
          <a:prstGeom prst="rect">
            <a:avLst/>
          </a:prstGeom>
          <a:noFill/>
          <a:ln/>
        </p:spPr>
        <p:txBody>
          <a:bodyPr wrap="square" lIns="0" tIns="0" rIns="0" bIns="0" rtlCol="0" anchor="ctr"/>
          <a:lstStyle/>
          <a:p>
            <a:pPr indent="0" marL="0">
              <a:buNone/>
            </a:pPr>
            <a:r>
              <a:rPr lang="en-US" sz="1300" b="1" dirty="0">
                <a:solidFill>
                  <a:srgbClr val="EF4444"/>
                </a:solidFill>
                <a:latin typeface="Cambria" pitchFamily="34" charset="0"/>
                <a:ea typeface="Cambria" pitchFamily="34" charset="-122"/>
                <a:cs typeface="Cambria" pitchFamily="34" charset="-120"/>
              </a:rPr>
              <a:t>Panache</a:t>
            </a:r>
            <a:endParaRPr lang="en-US" sz="1300" dirty="0"/>
          </a:p>
        </p:txBody>
      </p:sp>
      <p:sp>
        <p:nvSpPr>
          <p:cNvPr id="17" name="Shape 15"/>
          <p:cNvSpPr/>
          <p:nvPr/>
        </p:nvSpPr>
        <p:spPr>
          <a:xfrm>
            <a:off x="1920240" y="2514600"/>
            <a:ext cx="1463040" cy="457200"/>
          </a:xfrm>
          <a:prstGeom prst="rect">
            <a:avLst/>
          </a:prstGeom>
          <a:solidFill>
            <a:srgbClr val="1E293B"/>
          </a:solidFill>
          <a:ln w="12700">
            <a:solidFill>
              <a:srgbClr val="38BDF8"/>
            </a:solidFill>
            <a:prstDash val="solid"/>
          </a:ln>
        </p:spPr>
      </p:sp>
      <p:sp>
        <p:nvSpPr>
          <p:cNvPr id="18" name="Text 16"/>
          <p:cNvSpPr/>
          <p:nvPr/>
        </p:nvSpPr>
        <p:spPr>
          <a:xfrm>
            <a:off x="1920240" y="2514600"/>
            <a:ext cx="1463040" cy="457200"/>
          </a:xfrm>
          <a:prstGeom prst="rect">
            <a:avLst/>
          </a:prstGeom>
          <a:noFill/>
          <a:ln/>
        </p:spPr>
        <p:txBody>
          <a:bodyPr wrap="square" lIns="0" tIns="0" rIns="0" bIns="0" rtlCol="0" anchor="ctr"/>
          <a:lstStyle/>
          <a:p>
            <a:pPr algn="ctr" indent="0" marL="0">
              <a:buNone/>
            </a:pPr>
            <a:r>
              <a:rPr lang="en-US" sz="1100" dirty="0">
                <a:solidFill>
                  <a:srgbClr val="38BDF8"/>
                </a:solidFill>
                <a:latin typeface="Consolas" pitchFamily="34" charset="0"/>
                <a:ea typeface="Consolas" pitchFamily="34" charset="-122"/>
                <a:cs typeface="Consolas" pitchFamily="34" charset="-120"/>
              </a:rPr>
              <a:t>@QueryParam</a:t>
            </a:r>
            <a:endParaRPr lang="en-US" sz="1100" dirty="0"/>
          </a:p>
        </p:txBody>
      </p:sp>
      <p:sp>
        <p:nvSpPr>
          <p:cNvPr id="19" name="Shape 17"/>
          <p:cNvSpPr/>
          <p:nvPr/>
        </p:nvSpPr>
        <p:spPr>
          <a:xfrm>
            <a:off x="3429000" y="2743200"/>
            <a:ext cx="137160" cy="0"/>
          </a:xfrm>
          <a:prstGeom prst="line">
            <a:avLst/>
          </a:prstGeom>
          <a:noFill/>
          <a:ln w="12700">
            <a:solidFill>
              <a:srgbClr val="94A3B8"/>
            </a:solidFill>
            <a:prstDash val="solid"/>
          </a:ln>
        </p:spPr>
      </p:sp>
      <p:sp>
        <p:nvSpPr>
          <p:cNvPr id="20" name="Shape 18"/>
          <p:cNvSpPr/>
          <p:nvPr/>
        </p:nvSpPr>
        <p:spPr>
          <a:xfrm>
            <a:off x="3657600" y="2514600"/>
            <a:ext cx="1554480" cy="457200"/>
          </a:xfrm>
          <a:prstGeom prst="rect">
            <a:avLst/>
          </a:prstGeom>
          <a:solidFill>
            <a:srgbClr val="1E293B"/>
          </a:solidFill>
          <a:ln w="12700">
            <a:solidFill>
              <a:srgbClr val="F59E0B"/>
            </a:solidFill>
            <a:prstDash val="solid"/>
          </a:ln>
        </p:spPr>
      </p:sp>
      <p:sp>
        <p:nvSpPr>
          <p:cNvPr id="21" name="Text 19"/>
          <p:cNvSpPr/>
          <p:nvPr/>
        </p:nvSpPr>
        <p:spPr>
          <a:xfrm>
            <a:off x="3657600" y="2514600"/>
            <a:ext cx="1554480" cy="457200"/>
          </a:xfrm>
          <a:prstGeom prst="rect">
            <a:avLst/>
          </a:prstGeom>
          <a:noFill/>
          <a:ln/>
        </p:spPr>
        <p:txBody>
          <a:bodyPr wrap="square" lIns="0" tIns="0" rIns="0" bIns="0" rtlCol="0" anchor="ctr"/>
          <a:lstStyle/>
          <a:p>
            <a:pPr algn="ctr" indent="0" marL="0">
              <a:buNone/>
            </a:pPr>
            <a:r>
              <a:rPr lang="en-US" sz="1100" dirty="0">
                <a:solidFill>
                  <a:srgbClr val="F59E0B"/>
                </a:solidFill>
                <a:latin typeface="Consolas" pitchFamily="34" charset="0"/>
                <a:ea typeface="Consolas" pitchFamily="34" charset="-122"/>
                <a:cs typeface="Consolas" pitchFamily="34" charset="-120"/>
              </a:rPr>
              <a:t>concat sql</a:t>
            </a:r>
            <a:endParaRPr lang="en-US" sz="1100" dirty="0"/>
          </a:p>
        </p:txBody>
      </p:sp>
      <p:sp>
        <p:nvSpPr>
          <p:cNvPr id="22" name="Shape 20"/>
          <p:cNvSpPr/>
          <p:nvPr/>
        </p:nvSpPr>
        <p:spPr>
          <a:xfrm>
            <a:off x="5257800" y="2743200"/>
            <a:ext cx="137160" cy="0"/>
          </a:xfrm>
          <a:prstGeom prst="line">
            <a:avLst/>
          </a:prstGeom>
          <a:noFill/>
          <a:ln w="12700">
            <a:solidFill>
              <a:srgbClr val="94A3B8"/>
            </a:solidFill>
            <a:prstDash val="solid"/>
          </a:ln>
        </p:spPr>
      </p:sp>
      <p:sp>
        <p:nvSpPr>
          <p:cNvPr id="23" name="Shape 21"/>
          <p:cNvSpPr/>
          <p:nvPr/>
        </p:nvSpPr>
        <p:spPr>
          <a:xfrm>
            <a:off x="5440680" y="2514600"/>
            <a:ext cx="2194560" cy="457200"/>
          </a:xfrm>
          <a:prstGeom prst="rect">
            <a:avLst/>
          </a:prstGeom>
          <a:solidFill>
            <a:srgbClr val="1E293B"/>
          </a:solidFill>
          <a:ln w="12700">
            <a:solidFill>
              <a:srgbClr val="EF4444"/>
            </a:solidFill>
            <a:prstDash val="solid"/>
          </a:ln>
        </p:spPr>
      </p:sp>
      <p:sp>
        <p:nvSpPr>
          <p:cNvPr id="24" name="Text 22"/>
          <p:cNvSpPr/>
          <p:nvPr/>
        </p:nvSpPr>
        <p:spPr>
          <a:xfrm>
            <a:off x="5440680" y="2514600"/>
            <a:ext cx="2194560" cy="457200"/>
          </a:xfrm>
          <a:prstGeom prst="rect">
            <a:avLst/>
          </a:prstGeom>
          <a:noFill/>
          <a:ln/>
        </p:spPr>
        <p:txBody>
          <a:bodyPr wrap="square" lIns="0" tIns="0" rIns="0" bIns="0" rtlCol="0" anchor="ctr"/>
          <a:lstStyle/>
          <a:p>
            <a:pPr algn="ctr" indent="0" marL="0">
              <a:buNone/>
            </a:pPr>
            <a:r>
              <a:rPr lang="en-US" sz="1100" dirty="0">
                <a:solidFill>
                  <a:srgbClr val="EF4444"/>
                </a:solidFill>
                <a:latin typeface="Consolas" pitchFamily="34" charset="0"/>
                <a:ea typeface="Consolas" pitchFamily="34" charset="-122"/>
                <a:cs typeface="Consolas" pitchFamily="34" charset="-120"/>
              </a:rPr>
              <a:t>list(query)</a:t>
            </a:r>
            <a:endParaRPr lang="en-US" sz="1100" dirty="0"/>
          </a:p>
        </p:txBody>
      </p:sp>
      <p:sp>
        <p:nvSpPr>
          <p:cNvPr id="25" name="Shape 23"/>
          <p:cNvSpPr/>
          <p:nvPr/>
        </p:nvSpPr>
        <p:spPr>
          <a:xfrm>
            <a:off x="7818120" y="2514600"/>
            <a:ext cx="868680" cy="457200"/>
          </a:xfrm>
          <a:prstGeom prst="rect">
            <a:avLst/>
          </a:prstGeom>
          <a:solidFill>
            <a:srgbClr val="EF4444"/>
          </a:solidFill>
          <a:ln w="12700">
            <a:solidFill>
              <a:srgbClr val="EF4444"/>
            </a:solidFill>
            <a:prstDash val="solid"/>
          </a:ln>
        </p:spPr>
      </p:sp>
      <p:sp>
        <p:nvSpPr>
          <p:cNvPr id="26" name="Text 24"/>
          <p:cNvSpPr/>
          <p:nvPr/>
        </p:nvSpPr>
        <p:spPr>
          <a:xfrm>
            <a:off x="7818120" y="2514600"/>
            <a:ext cx="868680" cy="457200"/>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MISSED</a:t>
            </a:r>
            <a:endParaRPr lang="en-US" sz="1000" dirty="0"/>
          </a:p>
        </p:txBody>
      </p:sp>
      <p:sp>
        <p:nvSpPr>
          <p:cNvPr id="27" name="Shape 25"/>
          <p:cNvSpPr/>
          <p:nvPr/>
        </p:nvSpPr>
        <p:spPr>
          <a:xfrm>
            <a:off x="457200" y="3566160"/>
            <a:ext cx="8229600" cy="1143000"/>
          </a:xfrm>
          <a:prstGeom prst="rect">
            <a:avLst/>
          </a:prstGeom>
          <a:solidFill>
            <a:srgbClr val="1E293B"/>
          </a:solidFill>
          <a:ln w="12700">
            <a:solidFill>
              <a:srgbClr val="334155"/>
            </a:solidFill>
            <a:prstDash val="solid"/>
          </a:ln>
        </p:spPr>
      </p:sp>
      <p:sp>
        <p:nvSpPr>
          <p:cNvPr id="28" name="Shape 26"/>
          <p:cNvSpPr/>
          <p:nvPr/>
        </p:nvSpPr>
        <p:spPr>
          <a:xfrm>
            <a:off x="457200" y="3566160"/>
            <a:ext cx="73152" cy="1143000"/>
          </a:xfrm>
          <a:prstGeom prst="rect">
            <a:avLst/>
          </a:prstGeom>
          <a:solidFill>
            <a:srgbClr val="38BDF8"/>
          </a:solidFill>
          <a:ln w="12700">
            <a:solidFill>
              <a:srgbClr val="38BDF8"/>
            </a:solidFill>
            <a:prstDash val="solid"/>
          </a:ln>
        </p:spPr>
      </p:sp>
      <p:sp>
        <p:nvSpPr>
          <p:cNvPr id="29" name="Text 27"/>
          <p:cNvSpPr/>
          <p:nvPr/>
        </p:nvSpPr>
        <p:spPr>
          <a:xfrm>
            <a:off x="685800" y="3657600"/>
            <a:ext cx="7772400" cy="320040"/>
          </a:xfrm>
          <a:prstGeom prst="rect">
            <a:avLst/>
          </a:prstGeom>
          <a:noFill/>
          <a:ln/>
        </p:spPr>
        <p:txBody>
          <a:bodyPr wrap="square" lIns="0" tIns="0" rIns="0" bIns="0" rtlCol="0" anchor="ctr"/>
          <a:lstStyle/>
          <a:p>
            <a:pPr indent="0" marL="0">
              <a:buNone/>
            </a:pPr>
            <a:r>
              <a:rPr lang="en-US" sz="1400" b="1" dirty="0">
                <a:solidFill>
                  <a:srgbClr val="F1F5F9"/>
                </a:solidFill>
                <a:latin typeface="Cambria" pitchFamily="34" charset="0"/>
                <a:ea typeface="Cambria" pitchFamily="34" charset="-122"/>
                <a:cs typeface="Cambria" pitchFamily="34" charset="-120"/>
              </a:rPr>
              <a:t>Why baseline differs</a:t>
            </a:r>
            <a:endParaRPr lang="en-US" sz="1400" dirty="0"/>
          </a:p>
        </p:txBody>
      </p:sp>
      <p:sp>
        <p:nvSpPr>
          <p:cNvPr id="30" name="Text 28"/>
          <p:cNvSpPr/>
          <p:nvPr/>
        </p:nvSpPr>
        <p:spPr>
          <a:xfrm>
            <a:off x="685800" y="3977640"/>
            <a:ext cx="7772400" cy="64008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CodeQL's standard Java models cover Jakarta Persistence directly. They do not (yet) cover all Quarkus/Panache convenience methods — so an identical taint flow lands in the gap.</a:t>
            </a:r>
            <a:endParaRPr lang="en-US" sz="1200" dirty="0"/>
          </a:p>
        </p:txBody>
      </p:sp>
      <p:sp>
        <p:nvSpPr>
          <p:cNvPr id="32" name="Shape 29"/>
          <p:cNvSpPr/>
          <p:nvPr/>
        </p:nvSpPr>
        <p:spPr>
          <a:xfrm>
            <a:off x="0" y="4937760"/>
            <a:ext cx="9144000" cy="205740"/>
          </a:xfrm>
          <a:prstGeom prst="rect">
            <a:avLst/>
          </a:prstGeom>
          <a:solidFill>
            <a:srgbClr val="1E293B"/>
          </a:solidFill>
          <a:ln w="12700">
            <a:solidFill>
              <a:srgbClr val="1E293B"/>
            </a:solidFill>
            <a:prstDash val="solid"/>
          </a:ln>
        </p:spPr>
      </p:sp>
      <p:sp>
        <p:nvSpPr>
          <p:cNvPr id="33" name="Text 30"/>
          <p:cNvSpPr/>
          <p:nvPr/>
        </p:nvSpPr>
        <p:spPr>
          <a:xfrm>
            <a:off x="365760" y="4937760"/>
            <a:ext cx="5486400" cy="2057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CodeQL Proof  ·  JPA vs Quarkus/Panache</a:t>
            </a:r>
            <a:endParaRPr lang="en-US" sz="900" dirty="0"/>
          </a:p>
        </p:txBody>
      </p:sp>
      <p:sp>
        <p:nvSpPr>
          <p:cNvPr id="34" name="Text 31"/>
          <p:cNvSpPr/>
          <p:nvPr/>
        </p:nvSpPr>
        <p:spPr>
          <a:xfrm>
            <a:off x="7863840" y="4937760"/>
            <a:ext cx="914400" cy="20574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1000" b="1" spc="400" kern="0" dirty="0">
                <a:solidFill>
                  <a:srgbClr val="38BDF8"/>
                </a:solidFill>
                <a:latin typeface="Calibri" pitchFamily="34" charset="0"/>
                <a:ea typeface="Calibri" pitchFamily="34" charset="-122"/>
                <a:cs typeface="Calibri" pitchFamily="34" charset="-120"/>
              </a:rPr>
              <a:t>CUSTOM MODEL PACK</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Extending CodeQL with framework knowledge</a:t>
            </a:r>
            <a:endParaRPr lang="en-US" sz="2800" dirty="0"/>
          </a:p>
        </p:txBody>
      </p:sp>
      <p:sp>
        <p:nvSpPr>
          <p:cNvPr id="4" name="Text 2"/>
          <p:cNvSpPr/>
          <p:nvPr/>
        </p:nvSpPr>
        <p:spPr>
          <a:xfrm>
            <a:off x="457200" y="1280160"/>
            <a:ext cx="4023360" cy="274320"/>
          </a:xfrm>
          <a:prstGeom prst="rect">
            <a:avLst/>
          </a:prstGeom>
          <a:noFill/>
          <a:ln/>
        </p:spPr>
        <p:txBody>
          <a:bodyPr wrap="square" lIns="0" tIns="0" rIns="0" bIns="0"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qlpack.yml</a:t>
            </a:r>
            <a:endParaRPr lang="en-US" sz="1100" dirty="0"/>
          </a:p>
        </p:txBody>
      </p:sp>
      <p:sp>
        <p:nvSpPr>
          <p:cNvPr id="5" name="Shape 3"/>
          <p:cNvSpPr/>
          <p:nvPr/>
        </p:nvSpPr>
        <p:spPr>
          <a:xfrm>
            <a:off x="457200" y="1554480"/>
            <a:ext cx="4023360" cy="1554480"/>
          </a:xfrm>
          <a:prstGeom prst="rect">
            <a:avLst/>
          </a:prstGeom>
          <a:solidFill>
            <a:srgbClr val="111827"/>
          </a:solidFill>
          <a:ln w="9525">
            <a:solidFill>
              <a:srgbClr val="334155"/>
            </a:solidFill>
            <a:prstDash val="solid"/>
          </a:ln>
        </p:spPr>
      </p:sp>
      <p:sp>
        <p:nvSpPr>
          <p:cNvPr id="6" name="Text 4"/>
          <p:cNvSpPr/>
          <p:nvPr/>
        </p:nvSpPr>
        <p:spPr>
          <a:xfrm>
            <a:off x="502920" y="1600200"/>
            <a:ext cx="640080" cy="201168"/>
          </a:xfrm>
          <a:prstGeom prst="rect">
            <a:avLst/>
          </a:prstGeom>
          <a:noFill/>
          <a:ln/>
        </p:spPr>
        <p:txBody>
          <a:bodyPr wrap="square" lIns="0" tIns="0" rIns="0" bIns="0" rtlCol="0" anchor="ctr"/>
          <a:lstStyle/>
          <a:p>
            <a:pPr algn="l" indent="0" marL="0">
              <a:buNone/>
            </a:pPr>
            <a:r>
              <a:rPr lang="en-US" sz="800" dirty="0">
                <a:solidFill>
                  <a:srgbClr val="94A3B8"/>
                </a:solidFill>
                <a:latin typeface="Consolas" pitchFamily="34" charset="0"/>
                <a:ea typeface="Consolas" pitchFamily="34" charset="-122"/>
                <a:cs typeface="Consolas" pitchFamily="34" charset="-120"/>
              </a:rPr>
              <a:t>yaml</a:t>
            </a:r>
            <a:endParaRPr lang="en-US" sz="800" dirty="0"/>
          </a:p>
        </p:txBody>
      </p:sp>
      <p:sp>
        <p:nvSpPr>
          <p:cNvPr id="7" name="Text 5"/>
          <p:cNvSpPr/>
          <p:nvPr/>
        </p:nvSpPr>
        <p:spPr>
          <a:xfrm>
            <a:off x="594360" y="1828800"/>
            <a:ext cx="3749040" cy="1188720"/>
          </a:xfrm>
          <a:prstGeom prst="rect">
            <a:avLst/>
          </a:prstGeom>
          <a:noFill/>
          <a:ln/>
        </p:spPr>
        <p:txBody>
          <a:bodyPr wrap="square" lIns="0" tIns="0" rIns="0" bIns="0" rtlCol="0" anchor="t"/>
          <a:lstStyle/>
          <a:p>
            <a:pPr indent="0" marL="0">
              <a:buNone/>
            </a:pPr>
            <a:r>
              <a:rPr lang="en-US" sz="1100" dirty="0">
                <a:solidFill>
                  <a:srgbClr val="C084FC"/>
                </a:solidFill>
                <a:latin typeface="Consolas" pitchFamily="34" charset="0"/>
                <a:ea typeface="Consolas" pitchFamily="34" charset="-122"/>
                <a:cs typeface="Consolas" pitchFamily="34" charset="-120"/>
              </a:rPr>
              <a:t>name: </a:t>
            </a:r>
            <a:pPr indent="0" marL="0">
              <a:buNone/>
            </a:pPr>
            <a:r>
              <a:rPr lang="en-US" sz="1100" dirty="0">
                <a:solidFill>
                  <a:srgbClr val="F1F5F9"/>
                </a:solidFill>
                <a:latin typeface="Consolas" pitchFamily="34" charset="0"/>
                <a:ea typeface="Consolas" pitchFamily="34" charset="-122"/>
                <a:cs typeface="Consolas" pitchFamily="34" charset="-120"/>
              </a:rPr>
              <a:t>local/quarkus-models</a:t>
            </a:r>
            <a:endParaRPr lang="en-US" sz="1100" dirty="0"/>
          </a:p>
          <a:p>
            <a:pPr indent="0" marL="0">
              <a:buNone/>
            </a:pPr>
            <a:r>
              <a:rPr lang="en-US" sz="1100" dirty="0">
                <a:solidFill>
                  <a:srgbClr val="C084FC"/>
                </a:solidFill>
                <a:latin typeface="Consolas" pitchFamily="34" charset="0"/>
                <a:ea typeface="Consolas" pitchFamily="34" charset="-122"/>
                <a:cs typeface="Consolas" pitchFamily="34" charset="-120"/>
              </a:rPr>
              <a:t>version: </a:t>
            </a:r>
            <a:pPr indent="0" marL="0">
              <a:buNone/>
            </a:pPr>
            <a:r>
              <a:rPr lang="en-US" sz="1100" dirty="0">
                <a:solidFill>
                  <a:srgbClr val="F1F5F9"/>
                </a:solidFill>
                <a:latin typeface="Consolas" pitchFamily="34" charset="0"/>
                <a:ea typeface="Consolas" pitchFamily="34" charset="-122"/>
                <a:cs typeface="Consolas" pitchFamily="34" charset="-120"/>
              </a:rPr>
              <a:t>0.0.1</a:t>
            </a:r>
            <a:endParaRPr lang="en-US" sz="1100" dirty="0"/>
          </a:p>
          <a:p>
            <a:pPr indent="0" marL="0">
              <a:buNone/>
            </a:pPr>
            <a:r>
              <a:rPr lang="en-US" sz="1100" dirty="0">
                <a:solidFill>
                  <a:srgbClr val="C084FC"/>
                </a:solidFill>
                <a:latin typeface="Consolas" pitchFamily="34" charset="0"/>
                <a:ea typeface="Consolas" pitchFamily="34" charset="-122"/>
                <a:cs typeface="Consolas" pitchFamily="34" charset="-120"/>
              </a:rPr>
              <a:t>library: </a:t>
            </a:r>
            <a:pPr indent="0" marL="0">
              <a:buNone/>
            </a:pPr>
            <a:r>
              <a:rPr lang="en-US" sz="1100" dirty="0">
                <a:solidFill>
                  <a:srgbClr val="F59E0B"/>
                </a:solidFill>
                <a:latin typeface="Consolas" pitchFamily="34" charset="0"/>
                <a:ea typeface="Consolas" pitchFamily="34" charset="-122"/>
                <a:cs typeface="Consolas" pitchFamily="34" charset="-120"/>
              </a:rPr>
              <a:t>true</a:t>
            </a:r>
            <a:endParaRPr lang="en-US" sz="1100" dirty="0"/>
          </a:p>
          <a:p>
            <a:pPr indent="0" marL="0">
              <a:buNone/>
            </a:pPr>
            <a:r>
              <a:rPr lang="en-US" sz="1100" dirty="0">
                <a:solidFill>
                  <a:srgbClr val="C084FC"/>
                </a:solidFill>
                <a:latin typeface="Consolas" pitchFamily="34" charset="0"/>
                <a:ea typeface="Consolas" pitchFamily="34" charset="-122"/>
                <a:cs typeface="Consolas" pitchFamily="34" charset="-120"/>
              </a:rPr>
              <a:t>extensionTargets:</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codeql/java-all: </a:t>
            </a:r>
            <a:pPr indent="0" marL="0">
              <a:buNone/>
            </a:pPr>
            <a:r>
              <a:rPr lang="en-US" sz="1100" dirty="0">
                <a:solidFill>
                  <a:srgbClr val="FCD34D"/>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C084FC"/>
                </a:solidFill>
                <a:latin typeface="Consolas" pitchFamily="34" charset="0"/>
                <a:ea typeface="Consolas" pitchFamily="34" charset="-122"/>
                <a:cs typeface="Consolas" pitchFamily="34" charset="-120"/>
              </a:rPr>
              <a:t>dataExtensions:</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 ql/src/quarkus-sinks.model.yml</a:t>
            </a:r>
            <a:endParaRPr lang="en-US" sz="1100" dirty="0"/>
          </a:p>
        </p:txBody>
      </p:sp>
      <p:sp>
        <p:nvSpPr>
          <p:cNvPr id="8" name="Text 6"/>
          <p:cNvSpPr/>
          <p:nvPr/>
        </p:nvSpPr>
        <p:spPr>
          <a:xfrm>
            <a:off x="4663440" y="1280160"/>
            <a:ext cx="4023360" cy="274320"/>
          </a:xfrm>
          <a:prstGeom prst="rect">
            <a:avLst/>
          </a:prstGeom>
          <a:noFill/>
          <a:ln/>
        </p:spPr>
        <p:txBody>
          <a:bodyPr wrap="square" lIns="0" tIns="0" rIns="0" bIns="0"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quarkus-sinks.model.yml</a:t>
            </a:r>
            <a:endParaRPr lang="en-US" sz="1100" dirty="0"/>
          </a:p>
        </p:txBody>
      </p:sp>
      <p:sp>
        <p:nvSpPr>
          <p:cNvPr id="9" name="Shape 7"/>
          <p:cNvSpPr/>
          <p:nvPr/>
        </p:nvSpPr>
        <p:spPr>
          <a:xfrm>
            <a:off x="4663440" y="1554480"/>
            <a:ext cx="4023360" cy="1554480"/>
          </a:xfrm>
          <a:prstGeom prst="rect">
            <a:avLst/>
          </a:prstGeom>
          <a:solidFill>
            <a:srgbClr val="111827"/>
          </a:solidFill>
          <a:ln w="9525">
            <a:solidFill>
              <a:srgbClr val="334155"/>
            </a:solidFill>
            <a:prstDash val="solid"/>
          </a:ln>
        </p:spPr>
      </p:sp>
      <p:sp>
        <p:nvSpPr>
          <p:cNvPr id="10" name="Text 8"/>
          <p:cNvSpPr/>
          <p:nvPr/>
        </p:nvSpPr>
        <p:spPr>
          <a:xfrm>
            <a:off x="4709160" y="1600200"/>
            <a:ext cx="640080" cy="201168"/>
          </a:xfrm>
          <a:prstGeom prst="rect">
            <a:avLst/>
          </a:prstGeom>
          <a:noFill/>
          <a:ln/>
        </p:spPr>
        <p:txBody>
          <a:bodyPr wrap="square" lIns="0" tIns="0" rIns="0" bIns="0" rtlCol="0" anchor="ctr"/>
          <a:lstStyle/>
          <a:p>
            <a:pPr algn="l" indent="0" marL="0">
              <a:buNone/>
            </a:pPr>
            <a:r>
              <a:rPr lang="en-US" sz="800" dirty="0">
                <a:solidFill>
                  <a:srgbClr val="94A3B8"/>
                </a:solidFill>
                <a:latin typeface="Consolas" pitchFamily="34" charset="0"/>
                <a:ea typeface="Consolas" pitchFamily="34" charset="-122"/>
                <a:cs typeface="Consolas" pitchFamily="34" charset="-120"/>
              </a:rPr>
              <a:t>yaml</a:t>
            </a:r>
            <a:endParaRPr lang="en-US" sz="800" dirty="0"/>
          </a:p>
        </p:txBody>
      </p:sp>
      <p:sp>
        <p:nvSpPr>
          <p:cNvPr id="11" name="Text 9"/>
          <p:cNvSpPr/>
          <p:nvPr/>
        </p:nvSpPr>
        <p:spPr>
          <a:xfrm>
            <a:off x="4800600" y="1828800"/>
            <a:ext cx="3749040" cy="1188720"/>
          </a:xfrm>
          <a:prstGeom prst="rect">
            <a:avLst/>
          </a:prstGeom>
          <a:noFill/>
          <a:ln/>
        </p:spPr>
        <p:txBody>
          <a:bodyPr wrap="square" lIns="0" tIns="0" rIns="0" bIns="0" rtlCol="0" anchor="t"/>
          <a:lstStyle/>
          <a:p>
            <a:pPr indent="0" marL="0">
              <a:buNone/>
            </a:pPr>
            <a:r>
              <a:rPr lang="en-US" sz="1100" dirty="0">
                <a:solidFill>
                  <a:srgbClr val="F1F5F9"/>
                </a:solidFill>
                <a:latin typeface="Consolas" pitchFamily="34" charset="0"/>
                <a:ea typeface="Consolas" pitchFamily="34" charset="-122"/>
                <a:cs typeface="Consolas" pitchFamily="34" charset="-120"/>
              </a:rPr>
              <a:t>- [</a:t>
            </a:r>
            <a:pPr indent="0" marL="0">
              <a:buNone/>
            </a:pPr>
            <a:r>
              <a:rPr lang="en-US" sz="1100" dirty="0">
                <a:solidFill>
                  <a:srgbClr val="FCD34D"/>
                </a:solidFill>
                <a:latin typeface="Consolas" pitchFamily="34" charset="0"/>
                <a:ea typeface="Consolas" pitchFamily="34" charset="-122"/>
                <a:cs typeface="Consolas" pitchFamily="34" charset="-120"/>
              </a:rPr>
              <a:t>"io.quarkus.hibernate.orm.panache"</a:t>
            </a:r>
            <a:pPr indent="0" marL="0">
              <a:buNone/>
            </a:pPr>
            <a:r>
              <a:rPr lang="en-US" sz="1100" dirty="0">
                <a:solidFill>
                  <a:srgbClr val="F1F5F9"/>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a:t>
            </a:r>
            <a:pPr indent="0" marL="0">
              <a:buNone/>
            </a:pPr>
            <a:r>
              <a:rPr lang="en-US" sz="1100" dirty="0">
                <a:solidFill>
                  <a:srgbClr val="FCD34D"/>
                </a:solidFill>
                <a:latin typeface="Consolas" pitchFamily="34" charset="0"/>
                <a:ea typeface="Consolas" pitchFamily="34" charset="-122"/>
                <a:cs typeface="Consolas" pitchFamily="34" charset="-120"/>
              </a:rPr>
              <a:t>"PanacheEntityBase"</a:t>
            </a:r>
            <a:pPr indent="0" marL="0">
              <a:buNone/>
            </a:pPr>
            <a:r>
              <a:rPr lang="en-US" sz="1100" dirty="0">
                <a:solidFill>
                  <a:srgbClr val="F1F5F9"/>
                </a:solidFill>
                <a:latin typeface="Consolas" pitchFamily="34" charset="0"/>
                <a:ea typeface="Consolas" pitchFamily="34" charset="-122"/>
                <a:cs typeface="Consolas" pitchFamily="34" charset="-120"/>
              </a:rPr>
              <a:t>, </a:t>
            </a:r>
            <a:pPr indent="0" marL="0">
              <a:buNone/>
            </a:pPr>
            <a:r>
              <a:rPr lang="en-US" sz="1100" dirty="0">
                <a:solidFill>
                  <a:srgbClr val="F59E0B"/>
                </a:solidFill>
                <a:latin typeface="Consolas" pitchFamily="34" charset="0"/>
                <a:ea typeface="Consolas" pitchFamily="34" charset="-122"/>
                <a:cs typeface="Consolas" pitchFamily="34" charset="-120"/>
              </a:rPr>
              <a:t>true</a:t>
            </a:r>
            <a:pPr indent="0" marL="0">
              <a:buNone/>
            </a:pPr>
            <a:r>
              <a:rPr lang="en-US" sz="1100" dirty="0">
                <a:solidFill>
                  <a:srgbClr val="F1F5F9"/>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a:t>
            </a:r>
            <a:pPr indent="0" marL="0">
              <a:buNone/>
            </a:pPr>
            <a:r>
              <a:rPr lang="en-US" sz="1100" dirty="0">
                <a:solidFill>
                  <a:srgbClr val="FCD34D"/>
                </a:solidFill>
                <a:latin typeface="Consolas" pitchFamily="34" charset="0"/>
                <a:ea typeface="Consolas" pitchFamily="34" charset="-122"/>
                <a:cs typeface="Consolas" pitchFamily="34" charset="-120"/>
              </a:rPr>
              <a:t>"list"</a:t>
            </a:r>
            <a:pPr indent="0" marL="0">
              <a:buNone/>
            </a:pPr>
            <a:r>
              <a:rPr lang="en-US" sz="1100" dirty="0">
                <a:solidFill>
                  <a:srgbClr val="F1F5F9"/>
                </a:solidFill>
                <a:latin typeface="Consolas" pitchFamily="34" charset="0"/>
                <a:ea typeface="Consolas" pitchFamily="34" charset="-122"/>
                <a:cs typeface="Consolas" pitchFamily="34" charset="-120"/>
              </a:rPr>
              <a:t>, </a:t>
            </a:r>
            <a:pPr indent="0" marL="0">
              <a:buNone/>
            </a:pPr>
            <a:r>
              <a:rPr lang="en-US" sz="1100" dirty="0">
                <a:solidFill>
                  <a:srgbClr val="FCD34D"/>
                </a:solidFill>
                <a:latin typeface="Consolas" pitchFamily="34" charset="0"/>
                <a:ea typeface="Consolas" pitchFamily="34" charset="-122"/>
                <a:cs typeface="Consolas" pitchFamily="34" charset="-120"/>
              </a:rPr>
              <a:t>""</a:t>
            </a:r>
            <a:pPr indent="0" marL="0">
              <a:buNone/>
            </a:pPr>
            <a:r>
              <a:rPr lang="en-US" sz="1100" dirty="0">
                <a:solidFill>
                  <a:srgbClr val="F1F5F9"/>
                </a:solidFill>
                <a:latin typeface="Consolas" pitchFamily="34" charset="0"/>
                <a:ea typeface="Consolas" pitchFamily="34" charset="-122"/>
                <a:cs typeface="Consolas" pitchFamily="34" charset="-120"/>
              </a:rPr>
              <a:t>, </a:t>
            </a:r>
            <a:pPr indent="0" marL="0">
              <a:buNone/>
            </a:pPr>
            <a:r>
              <a:rPr lang="en-US" sz="1100" dirty="0">
                <a:solidFill>
                  <a:srgbClr val="FCD34D"/>
                </a:solidFill>
                <a:latin typeface="Consolas" pitchFamily="34" charset="0"/>
                <a:ea typeface="Consolas" pitchFamily="34" charset="-122"/>
                <a:cs typeface="Consolas" pitchFamily="34" charset="-120"/>
              </a:rPr>
              <a:t>""</a:t>
            </a:r>
            <a:pPr indent="0" marL="0">
              <a:buNone/>
            </a:pPr>
            <a:r>
              <a:rPr lang="en-US" sz="1100" dirty="0">
                <a:solidFill>
                  <a:srgbClr val="F1F5F9"/>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a:t>
            </a:r>
            <a:pPr indent="0" marL="0">
              <a:buNone/>
            </a:pPr>
            <a:r>
              <a:rPr lang="en-US" sz="1100" dirty="0">
                <a:solidFill>
                  <a:srgbClr val="FCD34D"/>
                </a:solidFill>
                <a:latin typeface="Consolas" pitchFamily="34" charset="0"/>
                <a:ea typeface="Consolas" pitchFamily="34" charset="-122"/>
                <a:cs typeface="Consolas" pitchFamily="34" charset="-120"/>
              </a:rPr>
              <a:t>"Argument[0]"</a:t>
            </a:r>
            <a:pPr indent="0" marL="0">
              <a:buNone/>
            </a:pPr>
            <a:r>
              <a:rPr lang="en-US" sz="1100" dirty="0">
                <a:solidFill>
                  <a:srgbClr val="F1F5F9"/>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a:t>
            </a:r>
            <a:pPr indent="0" marL="0">
              <a:buNone/>
            </a:pPr>
            <a:r>
              <a:rPr lang="en-US" sz="1100" dirty="0">
                <a:solidFill>
                  <a:srgbClr val="FCD34D"/>
                </a:solidFill>
                <a:latin typeface="Consolas" pitchFamily="34" charset="0"/>
                <a:ea typeface="Consolas" pitchFamily="34" charset="-122"/>
                <a:cs typeface="Consolas" pitchFamily="34" charset="-120"/>
              </a:rPr>
              <a:t>"sql-injection"</a:t>
            </a:r>
            <a:pPr indent="0" marL="0">
              <a:buNone/>
            </a:pPr>
            <a:r>
              <a:rPr lang="en-US" sz="1100" dirty="0">
                <a:solidFill>
                  <a:srgbClr val="F1F5F9"/>
                </a:solidFill>
                <a:latin typeface="Consolas" pitchFamily="34" charset="0"/>
                <a:ea typeface="Consolas" pitchFamily="34" charset="-122"/>
                <a:cs typeface="Consolas" pitchFamily="34" charset="-120"/>
              </a:rPr>
              <a:t>, </a:t>
            </a:r>
            <a:pPr indent="0" marL="0">
              <a:buNone/>
            </a:pPr>
            <a:r>
              <a:rPr lang="en-US" sz="1100" dirty="0">
                <a:solidFill>
                  <a:srgbClr val="FCD34D"/>
                </a:solidFill>
                <a:latin typeface="Consolas" pitchFamily="34" charset="0"/>
                <a:ea typeface="Consolas" pitchFamily="34" charset="-122"/>
                <a:cs typeface="Consolas" pitchFamily="34" charset="-120"/>
              </a:rPr>
              <a:t>"manual"</a:t>
            </a:r>
            <a:pPr indent="0" marL="0">
              <a:buNone/>
            </a:pPr>
            <a:r>
              <a:rPr lang="en-US" sz="1100" dirty="0">
                <a:solidFill>
                  <a:srgbClr val="F1F5F9"/>
                </a:solidFill>
                <a:latin typeface="Consolas" pitchFamily="34" charset="0"/>
                <a:ea typeface="Consolas" pitchFamily="34" charset="-122"/>
                <a:cs typeface="Consolas" pitchFamily="34" charset="-120"/>
              </a:rPr>
              <a:t>]</a:t>
            </a:r>
            <a:endParaRPr lang="en-US" sz="1100" dirty="0"/>
          </a:p>
        </p:txBody>
      </p:sp>
      <p:sp>
        <p:nvSpPr>
          <p:cNvPr id="12" name="Shape 10"/>
          <p:cNvSpPr/>
          <p:nvPr/>
        </p:nvSpPr>
        <p:spPr>
          <a:xfrm>
            <a:off x="457200" y="3383280"/>
            <a:ext cx="8229600" cy="1280160"/>
          </a:xfrm>
          <a:prstGeom prst="rect">
            <a:avLst/>
          </a:prstGeom>
          <a:solidFill>
            <a:srgbClr val="1E293B"/>
          </a:solidFill>
          <a:ln w="12700">
            <a:solidFill>
              <a:srgbClr val="334155"/>
            </a:solidFill>
            <a:prstDash val="solid"/>
          </a:ln>
        </p:spPr>
      </p:sp>
      <p:sp>
        <p:nvSpPr>
          <p:cNvPr id="13" name="Text 11"/>
          <p:cNvSpPr/>
          <p:nvPr/>
        </p:nvSpPr>
        <p:spPr>
          <a:xfrm>
            <a:off x="640080" y="3520440"/>
            <a:ext cx="7863840" cy="27432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The tuple tells CodeQL what to treat as a sink — no new query is written.</a:t>
            </a:r>
            <a:endParaRPr lang="en-US" sz="1200" dirty="0"/>
          </a:p>
        </p:txBody>
      </p:sp>
      <p:sp>
        <p:nvSpPr>
          <p:cNvPr id="14" name="Text 12"/>
          <p:cNvSpPr/>
          <p:nvPr/>
        </p:nvSpPr>
        <p:spPr>
          <a:xfrm>
            <a:off x="640080" y="3886200"/>
            <a:ext cx="1481328" cy="228600"/>
          </a:xfrm>
          <a:prstGeom prst="rect">
            <a:avLst/>
          </a:prstGeom>
          <a:noFill/>
          <a:ln/>
        </p:spPr>
        <p:txBody>
          <a:bodyPr wrap="square" lIns="0" tIns="0" rIns="0" bIns="0" rtlCol="0" anchor="ctr"/>
          <a:lstStyle/>
          <a:p>
            <a:pPr indent="0" marL="0">
              <a:buNone/>
            </a:pPr>
            <a:r>
              <a:rPr lang="en-US" sz="900" b="1" spc="300" kern="0" dirty="0">
                <a:solidFill>
                  <a:srgbClr val="38BDF8"/>
                </a:solidFill>
                <a:latin typeface="Calibri" pitchFamily="34" charset="0"/>
                <a:ea typeface="Calibri" pitchFamily="34" charset="-122"/>
                <a:cs typeface="Calibri" pitchFamily="34" charset="-120"/>
              </a:rPr>
              <a:t>PACKAGE</a:t>
            </a:r>
            <a:endParaRPr lang="en-US" sz="900" dirty="0"/>
          </a:p>
        </p:txBody>
      </p:sp>
      <p:sp>
        <p:nvSpPr>
          <p:cNvPr id="15" name="Text 13"/>
          <p:cNvSpPr/>
          <p:nvPr/>
        </p:nvSpPr>
        <p:spPr>
          <a:xfrm>
            <a:off x="640080" y="4114800"/>
            <a:ext cx="1481328" cy="457200"/>
          </a:xfrm>
          <a:prstGeom prst="rect">
            <a:avLst/>
          </a:prstGeom>
          <a:noFill/>
          <a:ln/>
        </p:spPr>
        <p:txBody>
          <a:bodyPr wrap="square" lIns="0" tIns="0" rIns="0" bIns="0" rtlCol="0" anchor="t"/>
          <a:lstStyle/>
          <a:p>
            <a:pPr indent="0" marL="0">
              <a:buNone/>
            </a:pPr>
            <a:r>
              <a:rPr lang="en-US" sz="1100" dirty="0">
                <a:solidFill>
                  <a:srgbClr val="F1F5F9"/>
                </a:solidFill>
                <a:latin typeface="Consolas" pitchFamily="34" charset="0"/>
                <a:ea typeface="Consolas" pitchFamily="34" charset="-122"/>
                <a:cs typeface="Consolas" pitchFamily="34" charset="-120"/>
              </a:rPr>
              <a:t>io.quarkus.hibernate.orm.panache</a:t>
            </a:r>
            <a:endParaRPr lang="en-US" sz="1100" dirty="0"/>
          </a:p>
        </p:txBody>
      </p:sp>
      <p:sp>
        <p:nvSpPr>
          <p:cNvPr id="16" name="Text 14"/>
          <p:cNvSpPr/>
          <p:nvPr/>
        </p:nvSpPr>
        <p:spPr>
          <a:xfrm>
            <a:off x="2212848" y="3886200"/>
            <a:ext cx="1481328" cy="228600"/>
          </a:xfrm>
          <a:prstGeom prst="rect">
            <a:avLst/>
          </a:prstGeom>
          <a:noFill/>
          <a:ln/>
        </p:spPr>
        <p:txBody>
          <a:bodyPr wrap="square" lIns="0" tIns="0" rIns="0" bIns="0" rtlCol="0" anchor="ctr"/>
          <a:lstStyle/>
          <a:p>
            <a:pPr indent="0" marL="0">
              <a:buNone/>
            </a:pPr>
            <a:r>
              <a:rPr lang="en-US" sz="900" b="1" spc="300" kern="0" dirty="0">
                <a:solidFill>
                  <a:srgbClr val="38BDF8"/>
                </a:solidFill>
                <a:latin typeface="Calibri" pitchFamily="34" charset="0"/>
                <a:ea typeface="Calibri" pitchFamily="34" charset="-122"/>
                <a:cs typeface="Calibri" pitchFamily="34" charset="-120"/>
              </a:rPr>
              <a:t>TYPE</a:t>
            </a:r>
            <a:endParaRPr lang="en-US" sz="900" dirty="0"/>
          </a:p>
        </p:txBody>
      </p:sp>
      <p:sp>
        <p:nvSpPr>
          <p:cNvPr id="17" name="Text 15"/>
          <p:cNvSpPr/>
          <p:nvPr/>
        </p:nvSpPr>
        <p:spPr>
          <a:xfrm>
            <a:off x="2212848" y="4114800"/>
            <a:ext cx="1481328" cy="457200"/>
          </a:xfrm>
          <a:prstGeom prst="rect">
            <a:avLst/>
          </a:prstGeom>
          <a:noFill/>
          <a:ln/>
        </p:spPr>
        <p:txBody>
          <a:bodyPr wrap="square" lIns="0" tIns="0" rIns="0" bIns="0" rtlCol="0" anchor="t"/>
          <a:lstStyle/>
          <a:p>
            <a:pPr indent="0" marL="0">
              <a:buNone/>
            </a:pPr>
            <a:r>
              <a:rPr lang="en-US" sz="1100" dirty="0">
                <a:solidFill>
                  <a:srgbClr val="F1F5F9"/>
                </a:solidFill>
                <a:latin typeface="Consolas" pitchFamily="34" charset="0"/>
                <a:ea typeface="Consolas" pitchFamily="34" charset="-122"/>
                <a:cs typeface="Consolas" pitchFamily="34" charset="-120"/>
              </a:rPr>
              <a:t>PanacheEntityBase</a:t>
            </a:r>
            <a:endParaRPr lang="en-US" sz="1100" dirty="0"/>
          </a:p>
        </p:txBody>
      </p:sp>
      <p:sp>
        <p:nvSpPr>
          <p:cNvPr id="18" name="Text 16"/>
          <p:cNvSpPr/>
          <p:nvPr/>
        </p:nvSpPr>
        <p:spPr>
          <a:xfrm>
            <a:off x="3785616" y="3886200"/>
            <a:ext cx="1481328" cy="228600"/>
          </a:xfrm>
          <a:prstGeom prst="rect">
            <a:avLst/>
          </a:prstGeom>
          <a:noFill/>
          <a:ln/>
        </p:spPr>
        <p:txBody>
          <a:bodyPr wrap="square" lIns="0" tIns="0" rIns="0" bIns="0" rtlCol="0" anchor="ctr"/>
          <a:lstStyle/>
          <a:p>
            <a:pPr indent="0" marL="0">
              <a:buNone/>
            </a:pPr>
            <a:r>
              <a:rPr lang="en-US" sz="900" b="1" spc="300" kern="0" dirty="0">
                <a:solidFill>
                  <a:srgbClr val="38BDF8"/>
                </a:solidFill>
                <a:latin typeface="Calibri" pitchFamily="34" charset="0"/>
                <a:ea typeface="Calibri" pitchFamily="34" charset="-122"/>
                <a:cs typeface="Calibri" pitchFamily="34" charset="-120"/>
              </a:rPr>
              <a:t>METHODS</a:t>
            </a:r>
            <a:endParaRPr lang="en-US" sz="900" dirty="0"/>
          </a:p>
        </p:txBody>
      </p:sp>
      <p:sp>
        <p:nvSpPr>
          <p:cNvPr id="19" name="Text 17"/>
          <p:cNvSpPr/>
          <p:nvPr/>
        </p:nvSpPr>
        <p:spPr>
          <a:xfrm>
            <a:off x="3785616" y="4114800"/>
            <a:ext cx="1481328" cy="457200"/>
          </a:xfrm>
          <a:prstGeom prst="rect">
            <a:avLst/>
          </a:prstGeom>
          <a:noFill/>
          <a:ln/>
        </p:spPr>
        <p:txBody>
          <a:bodyPr wrap="square" lIns="0" tIns="0" rIns="0" bIns="0" rtlCol="0" anchor="t"/>
          <a:lstStyle/>
          <a:p>
            <a:pPr indent="0" marL="0">
              <a:buNone/>
            </a:pPr>
            <a:r>
              <a:rPr lang="en-US" sz="1100" dirty="0">
                <a:solidFill>
                  <a:srgbClr val="F1F5F9"/>
                </a:solidFill>
                <a:latin typeface="Consolas" pitchFamily="34" charset="0"/>
                <a:ea typeface="Consolas" pitchFamily="34" charset="-122"/>
                <a:cs typeface="Consolas" pitchFamily="34" charset="-120"/>
              </a:rPr>
              <a:t>list, find</a:t>
            </a:r>
            <a:endParaRPr lang="en-US" sz="1100" dirty="0"/>
          </a:p>
        </p:txBody>
      </p:sp>
      <p:sp>
        <p:nvSpPr>
          <p:cNvPr id="20" name="Text 18"/>
          <p:cNvSpPr/>
          <p:nvPr/>
        </p:nvSpPr>
        <p:spPr>
          <a:xfrm>
            <a:off x="5358384" y="3886200"/>
            <a:ext cx="1481328" cy="228600"/>
          </a:xfrm>
          <a:prstGeom prst="rect">
            <a:avLst/>
          </a:prstGeom>
          <a:noFill/>
          <a:ln/>
        </p:spPr>
        <p:txBody>
          <a:bodyPr wrap="square" lIns="0" tIns="0" rIns="0" bIns="0" rtlCol="0" anchor="ctr"/>
          <a:lstStyle/>
          <a:p>
            <a:pPr indent="0" marL="0">
              <a:buNone/>
            </a:pPr>
            <a:r>
              <a:rPr lang="en-US" sz="900" b="1" spc="300" kern="0" dirty="0">
                <a:solidFill>
                  <a:srgbClr val="38BDF8"/>
                </a:solidFill>
                <a:latin typeface="Calibri" pitchFamily="34" charset="0"/>
                <a:ea typeface="Calibri" pitchFamily="34" charset="-122"/>
                <a:cs typeface="Calibri" pitchFamily="34" charset="-120"/>
              </a:rPr>
              <a:t>TAINTED ARG</a:t>
            </a:r>
            <a:endParaRPr lang="en-US" sz="900" dirty="0"/>
          </a:p>
        </p:txBody>
      </p:sp>
      <p:sp>
        <p:nvSpPr>
          <p:cNvPr id="21" name="Text 19"/>
          <p:cNvSpPr/>
          <p:nvPr/>
        </p:nvSpPr>
        <p:spPr>
          <a:xfrm>
            <a:off x="5358384" y="4114800"/>
            <a:ext cx="1481328" cy="457200"/>
          </a:xfrm>
          <a:prstGeom prst="rect">
            <a:avLst/>
          </a:prstGeom>
          <a:noFill/>
          <a:ln/>
        </p:spPr>
        <p:txBody>
          <a:bodyPr wrap="square" lIns="0" tIns="0" rIns="0" bIns="0" rtlCol="0" anchor="t"/>
          <a:lstStyle/>
          <a:p>
            <a:pPr indent="0" marL="0">
              <a:buNone/>
            </a:pPr>
            <a:r>
              <a:rPr lang="en-US" sz="1100" dirty="0">
                <a:solidFill>
                  <a:srgbClr val="F1F5F9"/>
                </a:solidFill>
                <a:latin typeface="Consolas" pitchFamily="34" charset="0"/>
                <a:ea typeface="Consolas" pitchFamily="34" charset="-122"/>
                <a:cs typeface="Consolas" pitchFamily="34" charset="-120"/>
              </a:rPr>
              <a:t>Argument[0]</a:t>
            </a:r>
            <a:endParaRPr lang="en-US" sz="1100" dirty="0"/>
          </a:p>
        </p:txBody>
      </p:sp>
      <p:sp>
        <p:nvSpPr>
          <p:cNvPr id="22" name="Text 20"/>
          <p:cNvSpPr/>
          <p:nvPr/>
        </p:nvSpPr>
        <p:spPr>
          <a:xfrm>
            <a:off x="6931152" y="3886200"/>
            <a:ext cx="1481328" cy="228600"/>
          </a:xfrm>
          <a:prstGeom prst="rect">
            <a:avLst/>
          </a:prstGeom>
          <a:noFill/>
          <a:ln/>
        </p:spPr>
        <p:txBody>
          <a:bodyPr wrap="square" lIns="0" tIns="0" rIns="0" bIns="0" rtlCol="0" anchor="ctr"/>
          <a:lstStyle/>
          <a:p>
            <a:pPr indent="0" marL="0">
              <a:buNone/>
            </a:pPr>
            <a:r>
              <a:rPr lang="en-US" sz="900" b="1" spc="300" kern="0" dirty="0">
                <a:solidFill>
                  <a:srgbClr val="38BDF8"/>
                </a:solidFill>
                <a:latin typeface="Calibri" pitchFamily="34" charset="0"/>
                <a:ea typeface="Calibri" pitchFamily="34" charset="-122"/>
                <a:cs typeface="Calibri" pitchFamily="34" charset="-120"/>
              </a:rPr>
              <a:t>SINK KIND</a:t>
            </a:r>
            <a:endParaRPr lang="en-US" sz="900" dirty="0"/>
          </a:p>
        </p:txBody>
      </p:sp>
      <p:sp>
        <p:nvSpPr>
          <p:cNvPr id="23" name="Text 21"/>
          <p:cNvSpPr/>
          <p:nvPr/>
        </p:nvSpPr>
        <p:spPr>
          <a:xfrm>
            <a:off x="6931152" y="4114800"/>
            <a:ext cx="1481328" cy="457200"/>
          </a:xfrm>
          <a:prstGeom prst="rect">
            <a:avLst/>
          </a:prstGeom>
          <a:noFill/>
          <a:ln/>
        </p:spPr>
        <p:txBody>
          <a:bodyPr wrap="square" lIns="0" tIns="0" rIns="0" bIns="0" rtlCol="0" anchor="t"/>
          <a:lstStyle/>
          <a:p>
            <a:pPr indent="0" marL="0">
              <a:buNone/>
            </a:pPr>
            <a:r>
              <a:rPr lang="en-US" sz="1100" dirty="0">
                <a:solidFill>
                  <a:srgbClr val="F1F5F9"/>
                </a:solidFill>
                <a:latin typeface="Consolas" pitchFamily="34" charset="0"/>
                <a:ea typeface="Consolas" pitchFamily="34" charset="-122"/>
                <a:cs typeface="Consolas" pitchFamily="34" charset="-120"/>
              </a:rPr>
              <a:t>sql-injection</a:t>
            </a:r>
            <a:endParaRPr lang="en-US" sz="1100" dirty="0"/>
          </a:p>
        </p:txBody>
      </p:sp>
      <p:sp>
        <p:nvSpPr>
          <p:cNvPr id="25" name="Shape 22"/>
          <p:cNvSpPr/>
          <p:nvPr/>
        </p:nvSpPr>
        <p:spPr>
          <a:xfrm>
            <a:off x="0" y="4937760"/>
            <a:ext cx="9144000" cy="205740"/>
          </a:xfrm>
          <a:prstGeom prst="rect">
            <a:avLst/>
          </a:prstGeom>
          <a:solidFill>
            <a:srgbClr val="1E293B"/>
          </a:solidFill>
          <a:ln w="12700">
            <a:solidFill>
              <a:srgbClr val="1E293B"/>
            </a:solidFill>
            <a:prstDash val="solid"/>
          </a:ln>
        </p:spPr>
      </p:sp>
      <p:sp>
        <p:nvSpPr>
          <p:cNvPr id="26" name="Text 23"/>
          <p:cNvSpPr/>
          <p:nvPr/>
        </p:nvSpPr>
        <p:spPr>
          <a:xfrm>
            <a:off x="365760" y="4937760"/>
            <a:ext cx="5486400" cy="2057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CodeQL Proof  ·  JPA vs Quarkus/Panache</a:t>
            </a:r>
            <a:endParaRPr lang="en-US" sz="900" dirty="0"/>
          </a:p>
        </p:txBody>
      </p:sp>
      <p:sp>
        <p:nvSpPr>
          <p:cNvPr id="27" name="Text 24"/>
          <p:cNvSpPr/>
          <p:nvPr/>
        </p:nvSpPr>
        <p:spPr>
          <a:xfrm>
            <a:off x="7863840" y="4937760"/>
            <a:ext cx="914400" cy="20574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1000" b="1" spc="400" kern="0" dirty="0">
                <a:solidFill>
                  <a:srgbClr val="38BDF8"/>
                </a:solidFill>
                <a:latin typeface="Calibri" pitchFamily="34" charset="0"/>
                <a:ea typeface="Calibri" pitchFamily="34" charset="-122"/>
                <a:cs typeface="Calibri" pitchFamily="34" charset="-120"/>
              </a:rPr>
              <a:t>PROOF 3  ·  MODELED RUN</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Both sinks detected — modeled run</a:t>
            </a:r>
            <a:endParaRPr lang="en-US" sz="2800" dirty="0"/>
          </a:p>
        </p:txBody>
      </p:sp>
      <p:sp>
        <p:nvSpPr>
          <p:cNvPr id="4" name="Shape 2"/>
          <p:cNvSpPr/>
          <p:nvPr/>
        </p:nvSpPr>
        <p:spPr>
          <a:xfrm>
            <a:off x="457200" y="1280160"/>
            <a:ext cx="4023360" cy="2743200"/>
          </a:xfrm>
          <a:prstGeom prst="rect">
            <a:avLst/>
          </a:prstGeom>
          <a:solidFill>
            <a:srgbClr val="1E293B"/>
          </a:solidFill>
          <a:ln w="12700">
            <a:solidFill>
              <a:srgbClr val="334155"/>
            </a:solidFill>
            <a:prstDash val="solid"/>
          </a:ln>
        </p:spPr>
      </p:sp>
      <p:sp>
        <p:nvSpPr>
          <p:cNvPr id="5" name="Shape 3"/>
          <p:cNvSpPr/>
          <p:nvPr/>
        </p:nvSpPr>
        <p:spPr>
          <a:xfrm>
            <a:off x="457200" y="1280160"/>
            <a:ext cx="4023360" cy="73152"/>
          </a:xfrm>
          <a:prstGeom prst="rect">
            <a:avLst/>
          </a:prstGeom>
          <a:solidFill>
            <a:srgbClr val="64748B"/>
          </a:solidFill>
          <a:ln w="12700">
            <a:solidFill>
              <a:srgbClr val="64748B"/>
            </a:solidFill>
            <a:prstDash val="solid"/>
          </a:ln>
        </p:spPr>
      </p:sp>
      <p:sp>
        <p:nvSpPr>
          <p:cNvPr id="6" name="Text 4"/>
          <p:cNvSpPr/>
          <p:nvPr/>
        </p:nvSpPr>
        <p:spPr>
          <a:xfrm>
            <a:off x="685800" y="1417320"/>
            <a:ext cx="365760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BASELINE</a:t>
            </a:r>
            <a:endParaRPr lang="en-US" sz="1000" dirty="0"/>
          </a:p>
        </p:txBody>
      </p:sp>
      <p:sp>
        <p:nvSpPr>
          <p:cNvPr id="7" name="Text 5"/>
          <p:cNvSpPr/>
          <p:nvPr/>
        </p:nvSpPr>
        <p:spPr>
          <a:xfrm>
            <a:off x="685800" y="1691640"/>
            <a:ext cx="1371600" cy="1097280"/>
          </a:xfrm>
          <a:prstGeom prst="rect">
            <a:avLst/>
          </a:prstGeom>
          <a:noFill/>
          <a:ln/>
        </p:spPr>
        <p:txBody>
          <a:bodyPr wrap="square" lIns="0" tIns="0" rIns="0" bIns="0" rtlCol="0" anchor="ctr"/>
          <a:lstStyle/>
          <a:p>
            <a:pPr indent="0" marL="0">
              <a:buNone/>
            </a:pPr>
            <a:r>
              <a:rPr lang="en-US" sz="8000" b="1" dirty="0">
                <a:solidFill>
                  <a:srgbClr val="F1F5F9"/>
                </a:solidFill>
                <a:latin typeface="Cambria" pitchFamily="34" charset="0"/>
                <a:ea typeface="Cambria" pitchFamily="34" charset="-122"/>
                <a:cs typeface="Cambria" pitchFamily="34" charset="-120"/>
              </a:rPr>
              <a:t>1</a:t>
            </a:r>
            <a:endParaRPr lang="en-US" sz="8000" dirty="0"/>
          </a:p>
        </p:txBody>
      </p:sp>
      <p:sp>
        <p:nvSpPr>
          <p:cNvPr id="8" name="Text 6"/>
          <p:cNvSpPr/>
          <p:nvPr/>
        </p:nvSpPr>
        <p:spPr>
          <a:xfrm>
            <a:off x="1965960" y="2194560"/>
            <a:ext cx="22860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findings</a:t>
            </a:r>
            <a:endParaRPr lang="en-US" sz="1400" dirty="0"/>
          </a:p>
        </p:txBody>
      </p:sp>
      <p:sp>
        <p:nvSpPr>
          <p:cNvPr id="9" name="Shape 7"/>
          <p:cNvSpPr/>
          <p:nvPr/>
        </p:nvSpPr>
        <p:spPr>
          <a:xfrm>
            <a:off x="731520" y="2935224"/>
            <a:ext cx="164592" cy="164592"/>
          </a:xfrm>
          <a:prstGeom prst="ellipse">
            <a:avLst/>
          </a:prstGeom>
          <a:solidFill>
            <a:srgbClr val="10B981"/>
          </a:solidFill>
          <a:ln w="12700">
            <a:solidFill>
              <a:srgbClr val="10B981"/>
            </a:solidFill>
            <a:prstDash val="solid"/>
          </a:ln>
        </p:spPr>
      </p:sp>
      <p:sp>
        <p:nvSpPr>
          <p:cNvPr id="10" name="Text 8"/>
          <p:cNvSpPr/>
          <p:nvPr/>
        </p:nvSpPr>
        <p:spPr>
          <a:xfrm>
            <a:off x="1005840" y="2880360"/>
            <a:ext cx="3383280" cy="292608"/>
          </a:xfrm>
          <a:prstGeom prst="rect">
            <a:avLst/>
          </a:prstGeom>
          <a:noFill/>
          <a:ln/>
        </p:spPr>
        <p:txBody>
          <a:bodyPr wrap="square" lIns="0" tIns="0" rIns="0" bIns="0" rtlCol="0" anchor="ctr"/>
          <a:lstStyle/>
          <a:p>
            <a:pPr indent="0" marL="0">
              <a:buNone/>
            </a:pPr>
            <a:r>
              <a:rPr lang="en-US" sz="1000" dirty="0">
                <a:solidFill>
                  <a:srgbClr val="F1F5F9"/>
                </a:solidFill>
                <a:latin typeface="Consolas" pitchFamily="34" charset="0"/>
                <a:ea typeface="Consolas" pitchFamily="34" charset="-122"/>
                <a:cs typeface="Consolas" pitchFamily="34" charset="-120"/>
              </a:rPr>
              <a:t>java/sql-injection · line 35</a:t>
            </a:r>
            <a:endParaRPr lang="en-US" sz="1000" dirty="0"/>
          </a:p>
        </p:txBody>
      </p:sp>
      <p:sp>
        <p:nvSpPr>
          <p:cNvPr id="11" name="Shape 9"/>
          <p:cNvSpPr/>
          <p:nvPr/>
        </p:nvSpPr>
        <p:spPr>
          <a:xfrm>
            <a:off x="731520" y="3264408"/>
            <a:ext cx="164592" cy="164592"/>
          </a:xfrm>
          <a:prstGeom prst="ellipse">
            <a:avLst/>
          </a:prstGeom>
          <a:solidFill>
            <a:srgbClr val="EF4444"/>
          </a:solidFill>
          <a:ln w="12700">
            <a:solidFill>
              <a:srgbClr val="EF4444"/>
            </a:solidFill>
            <a:prstDash val="solid"/>
          </a:ln>
        </p:spPr>
      </p:sp>
      <p:sp>
        <p:nvSpPr>
          <p:cNvPr id="12" name="Text 10"/>
          <p:cNvSpPr/>
          <p:nvPr/>
        </p:nvSpPr>
        <p:spPr>
          <a:xfrm>
            <a:off x="1005840" y="3209544"/>
            <a:ext cx="3383280" cy="292608"/>
          </a:xfrm>
          <a:prstGeom prst="rect">
            <a:avLst/>
          </a:prstGeom>
          <a:noFill/>
          <a:ln/>
        </p:spPr>
        <p:txBody>
          <a:bodyPr wrap="square" lIns="0" tIns="0" rIns="0" bIns="0" rtlCol="0" anchor="ctr"/>
          <a:lstStyle/>
          <a:p>
            <a:pPr indent="0" marL="0">
              <a:buNone/>
            </a:pPr>
            <a:r>
              <a:rPr lang="en-US" sz="1000" dirty="0">
                <a:solidFill>
                  <a:srgbClr val="F1F5F9"/>
                </a:solidFill>
                <a:latin typeface="Consolas" pitchFamily="34" charset="0"/>
                <a:ea typeface="Consolas" pitchFamily="34" charset="-122"/>
                <a:cs typeface="Consolas" pitchFamily="34" charset="-120"/>
              </a:rPr>
              <a:t>Panache list(query)</a:t>
            </a:r>
            <a:endParaRPr lang="en-US" sz="1000" dirty="0"/>
          </a:p>
        </p:txBody>
      </p:sp>
      <p:sp>
        <p:nvSpPr>
          <p:cNvPr id="13" name="Shape 11"/>
          <p:cNvSpPr/>
          <p:nvPr/>
        </p:nvSpPr>
        <p:spPr>
          <a:xfrm>
            <a:off x="4663440" y="1280160"/>
            <a:ext cx="4023360" cy="2743200"/>
          </a:xfrm>
          <a:prstGeom prst="rect">
            <a:avLst/>
          </a:prstGeom>
          <a:solidFill>
            <a:srgbClr val="1E293B"/>
          </a:solidFill>
          <a:ln w="12700">
            <a:solidFill>
              <a:srgbClr val="334155"/>
            </a:solidFill>
            <a:prstDash val="solid"/>
          </a:ln>
        </p:spPr>
      </p:sp>
      <p:sp>
        <p:nvSpPr>
          <p:cNvPr id="14" name="Shape 12"/>
          <p:cNvSpPr/>
          <p:nvPr/>
        </p:nvSpPr>
        <p:spPr>
          <a:xfrm>
            <a:off x="4663440" y="1280160"/>
            <a:ext cx="4023360" cy="73152"/>
          </a:xfrm>
          <a:prstGeom prst="rect">
            <a:avLst/>
          </a:prstGeom>
          <a:solidFill>
            <a:srgbClr val="10B981"/>
          </a:solidFill>
          <a:ln w="12700">
            <a:solidFill>
              <a:srgbClr val="10B981"/>
            </a:solidFill>
            <a:prstDash val="solid"/>
          </a:ln>
        </p:spPr>
      </p:sp>
      <p:sp>
        <p:nvSpPr>
          <p:cNvPr id="15" name="Text 13"/>
          <p:cNvSpPr/>
          <p:nvPr/>
        </p:nvSpPr>
        <p:spPr>
          <a:xfrm>
            <a:off x="4892040" y="1417320"/>
            <a:ext cx="3657600" cy="274320"/>
          </a:xfrm>
          <a:prstGeom prst="rect">
            <a:avLst/>
          </a:prstGeom>
          <a:noFill/>
          <a:ln/>
        </p:spPr>
        <p:txBody>
          <a:bodyPr wrap="square" lIns="0" tIns="0" rIns="0" bIns="0" rtlCol="0" anchor="ctr"/>
          <a:lstStyle/>
          <a:p>
            <a:pPr indent="0" marL="0">
              <a:buNone/>
            </a:pPr>
            <a:r>
              <a:rPr lang="en-US" sz="1000" b="1" spc="300" kern="0" dirty="0">
                <a:solidFill>
                  <a:srgbClr val="10B981"/>
                </a:solidFill>
                <a:latin typeface="Calibri" pitchFamily="34" charset="0"/>
                <a:ea typeface="Calibri" pitchFamily="34" charset="-122"/>
                <a:cs typeface="Calibri" pitchFamily="34" charset="-120"/>
              </a:rPr>
              <a:t>WITH MODEL PACK</a:t>
            </a:r>
            <a:endParaRPr lang="en-US" sz="1000" dirty="0"/>
          </a:p>
        </p:txBody>
      </p:sp>
      <p:sp>
        <p:nvSpPr>
          <p:cNvPr id="16" name="Text 14"/>
          <p:cNvSpPr/>
          <p:nvPr/>
        </p:nvSpPr>
        <p:spPr>
          <a:xfrm>
            <a:off x="4892040" y="1691640"/>
            <a:ext cx="1371600" cy="1097280"/>
          </a:xfrm>
          <a:prstGeom prst="rect">
            <a:avLst/>
          </a:prstGeom>
          <a:noFill/>
          <a:ln/>
        </p:spPr>
        <p:txBody>
          <a:bodyPr wrap="square" lIns="0" tIns="0" rIns="0" bIns="0" rtlCol="0" anchor="ctr"/>
          <a:lstStyle/>
          <a:p>
            <a:pPr indent="0" marL="0">
              <a:buNone/>
            </a:pPr>
            <a:r>
              <a:rPr lang="en-US" sz="8000" b="1" dirty="0">
                <a:solidFill>
                  <a:srgbClr val="F1F5F9"/>
                </a:solidFill>
                <a:latin typeface="Cambria" pitchFamily="34" charset="0"/>
                <a:ea typeface="Cambria" pitchFamily="34" charset="-122"/>
                <a:cs typeface="Cambria" pitchFamily="34" charset="-120"/>
              </a:rPr>
              <a:t>2</a:t>
            </a:r>
            <a:endParaRPr lang="en-US" sz="8000" dirty="0"/>
          </a:p>
        </p:txBody>
      </p:sp>
      <p:sp>
        <p:nvSpPr>
          <p:cNvPr id="17" name="Text 15"/>
          <p:cNvSpPr/>
          <p:nvPr/>
        </p:nvSpPr>
        <p:spPr>
          <a:xfrm>
            <a:off x="6172200" y="2194560"/>
            <a:ext cx="22860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findings</a:t>
            </a:r>
            <a:endParaRPr lang="en-US" sz="1400" dirty="0"/>
          </a:p>
        </p:txBody>
      </p:sp>
      <p:sp>
        <p:nvSpPr>
          <p:cNvPr id="18" name="Shape 16"/>
          <p:cNvSpPr/>
          <p:nvPr/>
        </p:nvSpPr>
        <p:spPr>
          <a:xfrm>
            <a:off x="4937760" y="2935224"/>
            <a:ext cx="164592" cy="164592"/>
          </a:xfrm>
          <a:prstGeom prst="ellipse">
            <a:avLst/>
          </a:prstGeom>
          <a:solidFill>
            <a:srgbClr val="10B981"/>
          </a:solidFill>
          <a:ln w="12700">
            <a:solidFill>
              <a:srgbClr val="10B981"/>
            </a:solidFill>
            <a:prstDash val="solid"/>
          </a:ln>
        </p:spPr>
      </p:sp>
      <p:sp>
        <p:nvSpPr>
          <p:cNvPr id="19" name="Text 17"/>
          <p:cNvSpPr/>
          <p:nvPr/>
        </p:nvSpPr>
        <p:spPr>
          <a:xfrm>
            <a:off x="5212080" y="2880360"/>
            <a:ext cx="3383280" cy="292608"/>
          </a:xfrm>
          <a:prstGeom prst="rect">
            <a:avLst/>
          </a:prstGeom>
          <a:noFill/>
          <a:ln/>
        </p:spPr>
        <p:txBody>
          <a:bodyPr wrap="square" lIns="0" tIns="0" rIns="0" bIns="0" rtlCol="0" anchor="ctr"/>
          <a:lstStyle/>
          <a:p>
            <a:pPr indent="0" marL="0">
              <a:buNone/>
            </a:pPr>
            <a:r>
              <a:rPr lang="en-US" sz="1000" dirty="0">
                <a:solidFill>
                  <a:srgbClr val="F1F5F9"/>
                </a:solidFill>
                <a:latin typeface="Consolas" pitchFamily="34" charset="0"/>
                <a:ea typeface="Consolas" pitchFamily="34" charset="-122"/>
                <a:cs typeface="Consolas" pitchFamily="34" charset="-120"/>
              </a:rPr>
              <a:t>java/sql-injection · line 35</a:t>
            </a:r>
            <a:endParaRPr lang="en-US" sz="1000" dirty="0"/>
          </a:p>
        </p:txBody>
      </p:sp>
      <p:sp>
        <p:nvSpPr>
          <p:cNvPr id="20" name="Shape 18"/>
          <p:cNvSpPr/>
          <p:nvPr/>
        </p:nvSpPr>
        <p:spPr>
          <a:xfrm>
            <a:off x="4937760" y="3264408"/>
            <a:ext cx="164592" cy="164592"/>
          </a:xfrm>
          <a:prstGeom prst="ellipse">
            <a:avLst/>
          </a:prstGeom>
          <a:solidFill>
            <a:srgbClr val="10B981"/>
          </a:solidFill>
          <a:ln w="12700">
            <a:solidFill>
              <a:srgbClr val="10B981"/>
            </a:solidFill>
            <a:prstDash val="solid"/>
          </a:ln>
        </p:spPr>
      </p:sp>
      <p:sp>
        <p:nvSpPr>
          <p:cNvPr id="21" name="Text 19"/>
          <p:cNvSpPr/>
          <p:nvPr/>
        </p:nvSpPr>
        <p:spPr>
          <a:xfrm>
            <a:off x="5212080" y="3209544"/>
            <a:ext cx="3383280" cy="292608"/>
          </a:xfrm>
          <a:prstGeom prst="rect">
            <a:avLst/>
          </a:prstGeom>
          <a:noFill/>
          <a:ln/>
        </p:spPr>
        <p:txBody>
          <a:bodyPr wrap="square" lIns="0" tIns="0" rIns="0" bIns="0" rtlCol="0" anchor="ctr"/>
          <a:lstStyle/>
          <a:p>
            <a:pPr indent="0" marL="0">
              <a:buNone/>
            </a:pPr>
            <a:r>
              <a:rPr lang="en-US" sz="1000" dirty="0">
                <a:solidFill>
                  <a:srgbClr val="F1F5F9"/>
                </a:solidFill>
                <a:latin typeface="Consolas" pitchFamily="34" charset="0"/>
                <a:ea typeface="Consolas" pitchFamily="34" charset="-122"/>
                <a:cs typeface="Consolas" pitchFamily="34" charset="-120"/>
              </a:rPr>
              <a:t>java/sql-injection · line 55</a:t>
            </a:r>
            <a:endParaRPr lang="en-US" sz="1000" dirty="0"/>
          </a:p>
        </p:txBody>
      </p:sp>
      <p:sp>
        <p:nvSpPr>
          <p:cNvPr id="22" name="Text 20"/>
          <p:cNvSpPr/>
          <p:nvPr/>
        </p:nvSpPr>
        <p:spPr>
          <a:xfrm>
            <a:off x="457200" y="4297680"/>
            <a:ext cx="8229600" cy="274320"/>
          </a:xfrm>
          <a:prstGeom prst="rect">
            <a:avLst/>
          </a:prstGeom>
          <a:noFill/>
          <a:ln/>
        </p:spPr>
        <p:txBody>
          <a:bodyPr wrap="square" lIns="0" tIns="0" rIns="0" bIns="0" rtlCol="0" anchor="ctr"/>
          <a:lstStyle/>
          <a:p>
            <a:pPr algn="ctr" indent="0" marL="0">
              <a:buNone/>
            </a:pPr>
            <a:r>
              <a:rPr lang="en-US" sz="1300" i="1" dirty="0">
                <a:solidFill>
                  <a:srgbClr val="38BDF8"/>
                </a:solidFill>
                <a:latin typeface="Calibri" pitchFamily="34" charset="0"/>
                <a:ea typeface="Calibri" pitchFamily="34" charset="-122"/>
                <a:cs typeface="Calibri" pitchFamily="34" charset="-120"/>
              </a:rPr>
              <a:t>Same query suite. Same source code. Only the model pack changed.</a:t>
            </a:r>
            <a:endParaRPr lang="en-US" sz="1300" dirty="0"/>
          </a:p>
        </p:txBody>
      </p:sp>
      <p:sp>
        <p:nvSpPr>
          <p:cNvPr id="24" name="Shape 21"/>
          <p:cNvSpPr/>
          <p:nvPr/>
        </p:nvSpPr>
        <p:spPr>
          <a:xfrm>
            <a:off x="0" y="4937760"/>
            <a:ext cx="9144000" cy="205740"/>
          </a:xfrm>
          <a:prstGeom prst="rect">
            <a:avLst/>
          </a:prstGeom>
          <a:solidFill>
            <a:srgbClr val="1E293B"/>
          </a:solidFill>
          <a:ln w="12700">
            <a:solidFill>
              <a:srgbClr val="1E293B"/>
            </a:solidFill>
            <a:prstDash val="solid"/>
          </a:ln>
        </p:spPr>
      </p:sp>
      <p:sp>
        <p:nvSpPr>
          <p:cNvPr id="25" name="Text 22"/>
          <p:cNvSpPr/>
          <p:nvPr/>
        </p:nvSpPr>
        <p:spPr>
          <a:xfrm>
            <a:off x="365760" y="4937760"/>
            <a:ext cx="5486400" cy="2057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CodeQL Proof  ·  JPA vs Quarkus/Panache</a:t>
            </a:r>
            <a:endParaRPr lang="en-US" sz="900" dirty="0"/>
          </a:p>
        </p:txBody>
      </p:sp>
      <p:sp>
        <p:nvSpPr>
          <p:cNvPr id="26" name="Text 23"/>
          <p:cNvSpPr/>
          <p:nvPr/>
        </p:nvSpPr>
        <p:spPr>
          <a:xfrm>
            <a:off x="7863840" y="4937760"/>
            <a:ext cx="914400" cy="20574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1000" b="1" spc="400" kern="0" dirty="0">
                <a:solidFill>
                  <a:srgbClr val="38BDF8"/>
                </a:solidFill>
                <a:latin typeface="Calibri" pitchFamily="34" charset="0"/>
                <a:ea typeface="Calibri" pitchFamily="34" charset="-122"/>
                <a:cs typeface="Calibri" pitchFamily="34" charset="-120"/>
              </a:rPr>
              <a:t>REPRODUCTION</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Two commands. Two SARIF files. Side by side.</a:t>
            </a:r>
            <a:endParaRPr lang="en-US" sz="2800" dirty="0"/>
          </a:p>
        </p:txBody>
      </p:sp>
      <p:sp>
        <p:nvSpPr>
          <p:cNvPr id="4" name="Text 2"/>
          <p:cNvSpPr/>
          <p:nvPr/>
        </p:nvSpPr>
        <p:spPr>
          <a:xfrm>
            <a:off x="457200" y="1280160"/>
            <a:ext cx="4023360" cy="274320"/>
          </a:xfrm>
          <a:prstGeom prst="rect">
            <a:avLst/>
          </a:prstGeom>
          <a:noFill/>
          <a:ln/>
        </p:spPr>
        <p:txBody>
          <a:bodyPr wrap="square" lIns="0" tIns="0" rIns="0" bIns="0" rtlCol="0" anchor="ctr"/>
          <a:lstStyle/>
          <a:p>
            <a:pPr indent="0" marL="0">
              <a:buNone/>
            </a:pPr>
            <a:r>
              <a:rPr lang="en-US" sz="1100" b="1" spc="300" kern="0" dirty="0">
                <a:solidFill>
                  <a:srgbClr val="94A3B8"/>
                </a:solidFill>
                <a:latin typeface="Calibri" pitchFamily="34" charset="0"/>
                <a:ea typeface="Calibri" pitchFamily="34" charset="-122"/>
                <a:cs typeface="Calibri" pitchFamily="34" charset="-120"/>
              </a:rPr>
              <a:t>Baseline</a:t>
            </a:r>
            <a:endParaRPr lang="en-US" sz="1100" dirty="0"/>
          </a:p>
        </p:txBody>
      </p:sp>
      <p:sp>
        <p:nvSpPr>
          <p:cNvPr id="5" name="Shape 3"/>
          <p:cNvSpPr/>
          <p:nvPr/>
        </p:nvSpPr>
        <p:spPr>
          <a:xfrm>
            <a:off x="457200" y="1554480"/>
            <a:ext cx="4023360" cy="1280160"/>
          </a:xfrm>
          <a:prstGeom prst="rect">
            <a:avLst/>
          </a:prstGeom>
          <a:solidFill>
            <a:srgbClr val="111827"/>
          </a:solidFill>
          <a:ln w="9525">
            <a:solidFill>
              <a:srgbClr val="334155"/>
            </a:solidFill>
            <a:prstDash val="solid"/>
          </a:ln>
        </p:spPr>
      </p:sp>
      <p:sp>
        <p:nvSpPr>
          <p:cNvPr id="6" name="Text 4"/>
          <p:cNvSpPr/>
          <p:nvPr/>
        </p:nvSpPr>
        <p:spPr>
          <a:xfrm>
            <a:off x="502920" y="1600200"/>
            <a:ext cx="640080" cy="201168"/>
          </a:xfrm>
          <a:prstGeom prst="rect">
            <a:avLst/>
          </a:prstGeom>
          <a:noFill/>
          <a:ln/>
        </p:spPr>
        <p:txBody>
          <a:bodyPr wrap="square" lIns="0" tIns="0" rIns="0" bIns="0" rtlCol="0" anchor="ctr"/>
          <a:lstStyle/>
          <a:p>
            <a:pPr algn="l" indent="0" marL="0">
              <a:buNone/>
            </a:pPr>
            <a:r>
              <a:rPr lang="en-US" sz="800" dirty="0">
                <a:solidFill>
                  <a:srgbClr val="94A3B8"/>
                </a:solidFill>
                <a:latin typeface="Consolas" pitchFamily="34" charset="0"/>
                <a:ea typeface="Consolas" pitchFamily="34" charset="-122"/>
                <a:cs typeface="Consolas" pitchFamily="34" charset="-120"/>
              </a:rPr>
              <a:t>powershell</a:t>
            </a:r>
            <a:endParaRPr lang="en-US" sz="800" dirty="0"/>
          </a:p>
        </p:txBody>
      </p:sp>
      <p:sp>
        <p:nvSpPr>
          <p:cNvPr id="7" name="Text 5"/>
          <p:cNvSpPr/>
          <p:nvPr/>
        </p:nvSpPr>
        <p:spPr>
          <a:xfrm>
            <a:off x="594360" y="1828800"/>
            <a:ext cx="3749040" cy="914400"/>
          </a:xfrm>
          <a:prstGeom prst="rect">
            <a:avLst/>
          </a:prstGeom>
          <a:noFill/>
          <a:ln/>
        </p:spPr>
        <p:txBody>
          <a:bodyPr wrap="square" lIns="0" tIns="0" rIns="0" bIns="0" rtlCol="0" anchor="t"/>
          <a:lstStyle/>
          <a:p>
            <a:pPr indent="0" marL="0">
              <a:buNone/>
            </a:pPr>
            <a:r>
              <a:rPr lang="en-US" sz="1100" dirty="0">
                <a:solidFill>
                  <a:srgbClr val="C084FC"/>
                </a:solidFill>
                <a:latin typeface="Consolas" pitchFamily="34" charset="0"/>
                <a:ea typeface="Consolas" pitchFamily="34" charset="-122"/>
                <a:cs typeface="Consolas" pitchFamily="34" charset="-120"/>
              </a:rPr>
              <a:t>codeql database analyze</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db-quarkus codeql/java-queries</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--format=sarif-latest</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--output=results/baseline.sarif</a:t>
            </a:r>
            <a:endParaRPr lang="en-US" sz="1100" dirty="0"/>
          </a:p>
        </p:txBody>
      </p:sp>
      <p:sp>
        <p:nvSpPr>
          <p:cNvPr id="8" name="Shape 6"/>
          <p:cNvSpPr/>
          <p:nvPr/>
        </p:nvSpPr>
        <p:spPr>
          <a:xfrm>
            <a:off x="457200" y="2926080"/>
            <a:ext cx="4023360" cy="457200"/>
          </a:xfrm>
          <a:prstGeom prst="rect">
            <a:avLst/>
          </a:prstGeom>
          <a:solidFill>
            <a:srgbClr val="111827"/>
          </a:solidFill>
          <a:ln w="12700">
            <a:solidFill>
              <a:srgbClr val="10B981"/>
            </a:solidFill>
            <a:prstDash val="solid"/>
          </a:ln>
        </p:spPr>
      </p:sp>
      <p:sp>
        <p:nvSpPr>
          <p:cNvPr id="9" name="Text 7"/>
          <p:cNvSpPr/>
          <p:nvPr/>
        </p:nvSpPr>
        <p:spPr>
          <a:xfrm>
            <a:off x="594360" y="2926080"/>
            <a:ext cx="3840480" cy="457200"/>
          </a:xfrm>
          <a:prstGeom prst="rect">
            <a:avLst/>
          </a:prstGeom>
          <a:noFill/>
          <a:ln/>
        </p:spPr>
        <p:txBody>
          <a:bodyPr wrap="square" lIns="0" tIns="0" rIns="0" bIns="0" rtlCol="0" anchor="ctr"/>
          <a:lstStyle/>
          <a:p>
            <a:pPr indent="0" marL="0">
              <a:buNone/>
            </a:pPr>
            <a:r>
              <a:rPr lang="en-US" sz="1000" b="1" dirty="0">
                <a:solidFill>
                  <a:srgbClr val="10B981"/>
                </a:solidFill>
                <a:latin typeface="Consolas" pitchFamily="34" charset="0"/>
                <a:ea typeface="Consolas" pitchFamily="34" charset="-122"/>
                <a:cs typeface="Consolas" pitchFamily="34" charset="-120"/>
              </a:rPr>
              <a:t>results=1  </a:t>
            </a:r>
            <a:pPr indent="0" marL="0">
              <a:buNone/>
            </a:pPr>
            <a:r>
              <a:rPr lang="en-US" sz="1000" dirty="0">
                <a:solidFill>
                  <a:srgbClr val="94A3B8"/>
                </a:solidFill>
                <a:latin typeface="Consolas" pitchFamily="34" charset="0"/>
                <a:ea typeface="Consolas" pitchFamily="34" charset="-122"/>
                <a:cs typeface="Consolas" pitchFamily="34" charset="-120"/>
              </a:rPr>
              <a:t>DoctypeShareFolderMapping.java:35:36</a:t>
            </a:r>
            <a:endParaRPr lang="en-US" sz="1000" dirty="0"/>
          </a:p>
        </p:txBody>
      </p:sp>
      <p:sp>
        <p:nvSpPr>
          <p:cNvPr id="10" name="Text 8"/>
          <p:cNvSpPr/>
          <p:nvPr/>
        </p:nvSpPr>
        <p:spPr>
          <a:xfrm>
            <a:off x="4663440" y="1280160"/>
            <a:ext cx="4023360" cy="274320"/>
          </a:xfrm>
          <a:prstGeom prst="rect">
            <a:avLst/>
          </a:prstGeom>
          <a:noFill/>
          <a:ln/>
        </p:spPr>
        <p:txBody>
          <a:bodyPr wrap="square" lIns="0" tIns="0" rIns="0" bIns="0" rtlCol="0" anchor="ctr"/>
          <a:lstStyle/>
          <a:p>
            <a:pPr indent="0" marL="0">
              <a:buNone/>
            </a:pPr>
            <a:r>
              <a:rPr lang="en-US" sz="1100" b="1" spc="300" kern="0" dirty="0">
                <a:solidFill>
                  <a:srgbClr val="38BDF8"/>
                </a:solidFill>
                <a:latin typeface="Calibri" pitchFamily="34" charset="0"/>
                <a:ea typeface="Calibri" pitchFamily="34" charset="-122"/>
                <a:cs typeface="Calibri" pitchFamily="34" charset="-120"/>
              </a:rPr>
              <a:t>Modeled</a:t>
            </a:r>
            <a:endParaRPr lang="en-US" sz="1100" dirty="0"/>
          </a:p>
        </p:txBody>
      </p:sp>
      <p:sp>
        <p:nvSpPr>
          <p:cNvPr id="11" name="Shape 9"/>
          <p:cNvSpPr/>
          <p:nvPr/>
        </p:nvSpPr>
        <p:spPr>
          <a:xfrm>
            <a:off x="4663440" y="1554480"/>
            <a:ext cx="4023360" cy="1280160"/>
          </a:xfrm>
          <a:prstGeom prst="rect">
            <a:avLst/>
          </a:prstGeom>
          <a:solidFill>
            <a:srgbClr val="111827"/>
          </a:solidFill>
          <a:ln w="9525">
            <a:solidFill>
              <a:srgbClr val="334155"/>
            </a:solidFill>
            <a:prstDash val="solid"/>
          </a:ln>
        </p:spPr>
      </p:sp>
      <p:sp>
        <p:nvSpPr>
          <p:cNvPr id="12" name="Text 10"/>
          <p:cNvSpPr/>
          <p:nvPr/>
        </p:nvSpPr>
        <p:spPr>
          <a:xfrm>
            <a:off x="4709160" y="1600200"/>
            <a:ext cx="640080" cy="201168"/>
          </a:xfrm>
          <a:prstGeom prst="rect">
            <a:avLst/>
          </a:prstGeom>
          <a:noFill/>
          <a:ln/>
        </p:spPr>
        <p:txBody>
          <a:bodyPr wrap="square" lIns="0" tIns="0" rIns="0" bIns="0" rtlCol="0" anchor="ctr"/>
          <a:lstStyle/>
          <a:p>
            <a:pPr algn="l" indent="0" marL="0">
              <a:buNone/>
            </a:pPr>
            <a:r>
              <a:rPr lang="en-US" sz="800" dirty="0">
                <a:solidFill>
                  <a:srgbClr val="94A3B8"/>
                </a:solidFill>
                <a:latin typeface="Consolas" pitchFamily="34" charset="0"/>
                <a:ea typeface="Consolas" pitchFamily="34" charset="-122"/>
                <a:cs typeface="Consolas" pitchFamily="34" charset="-120"/>
              </a:rPr>
              <a:t>powershell</a:t>
            </a:r>
            <a:endParaRPr lang="en-US" sz="800" dirty="0"/>
          </a:p>
        </p:txBody>
      </p:sp>
      <p:sp>
        <p:nvSpPr>
          <p:cNvPr id="13" name="Text 11"/>
          <p:cNvSpPr/>
          <p:nvPr/>
        </p:nvSpPr>
        <p:spPr>
          <a:xfrm>
            <a:off x="4800600" y="1828800"/>
            <a:ext cx="3749040" cy="914400"/>
          </a:xfrm>
          <a:prstGeom prst="rect">
            <a:avLst/>
          </a:prstGeom>
          <a:noFill/>
          <a:ln/>
        </p:spPr>
        <p:txBody>
          <a:bodyPr wrap="square" lIns="0" tIns="0" rIns="0" bIns="0" rtlCol="0" anchor="t"/>
          <a:lstStyle/>
          <a:p>
            <a:pPr indent="0" marL="0">
              <a:buNone/>
            </a:pPr>
            <a:r>
              <a:rPr lang="en-US" sz="1100" dirty="0">
                <a:solidFill>
                  <a:srgbClr val="C084FC"/>
                </a:solidFill>
                <a:latin typeface="Consolas" pitchFamily="34" charset="0"/>
                <a:ea typeface="Consolas" pitchFamily="34" charset="-122"/>
                <a:cs typeface="Consolas" pitchFamily="34" charset="-120"/>
              </a:rPr>
              <a:t>codeql database analyze</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db-quarkus codeql/java-queries</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--model-packs=</a:t>
            </a:r>
            <a:pPr indent="0" marL="0">
              <a:buNone/>
            </a:pPr>
            <a:r>
              <a:rPr lang="en-US" sz="1100" dirty="0">
                <a:solidFill>
                  <a:srgbClr val="F59E0B"/>
                </a:solidFill>
                <a:latin typeface="Consolas" pitchFamily="34" charset="0"/>
                <a:ea typeface="Consolas" pitchFamily="34" charset="-122"/>
                <a:cs typeface="Consolas" pitchFamily="34" charset="-120"/>
              </a:rPr>
              <a:t>local/quarkus-models</a:t>
            </a:r>
            <a:endParaRPr lang="en-US" sz="1100" dirty="0"/>
          </a:p>
          <a:p>
            <a:pPr indent="0" marL="0">
              <a:buNone/>
            </a:pPr>
            <a:r>
              <a:rPr lang="en-US" sz="1100" dirty="0">
                <a:solidFill>
                  <a:srgbClr val="F1F5F9"/>
                </a:solidFill>
                <a:latin typeface="Consolas" pitchFamily="34" charset="0"/>
                <a:ea typeface="Consolas" pitchFamily="34" charset="-122"/>
                <a:cs typeface="Consolas" pitchFamily="34" charset="-120"/>
              </a:rPr>
              <a:t>  --output=results/modeled.sarif</a:t>
            </a:r>
            <a:endParaRPr lang="en-US" sz="1100" dirty="0"/>
          </a:p>
        </p:txBody>
      </p:sp>
      <p:sp>
        <p:nvSpPr>
          <p:cNvPr id="14" name="Shape 12"/>
          <p:cNvSpPr/>
          <p:nvPr/>
        </p:nvSpPr>
        <p:spPr>
          <a:xfrm>
            <a:off x="4663440" y="2926080"/>
            <a:ext cx="4023360" cy="457200"/>
          </a:xfrm>
          <a:prstGeom prst="rect">
            <a:avLst/>
          </a:prstGeom>
          <a:solidFill>
            <a:srgbClr val="111827"/>
          </a:solidFill>
          <a:ln w="12700">
            <a:solidFill>
              <a:srgbClr val="10B981"/>
            </a:solidFill>
            <a:prstDash val="solid"/>
          </a:ln>
        </p:spPr>
      </p:sp>
      <p:sp>
        <p:nvSpPr>
          <p:cNvPr id="15" name="Text 13"/>
          <p:cNvSpPr/>
          <p:nvPr/>
        </p:nvSpPr>
        <p:spPr>
          <a:xfrm>
            <a:off x="4800600" y="2926080"/>
            <a:ext cx="3840480" cy="457200"/>
          </a:xfrm>
          <a:prstGeom prst="rect">
            <a:avLst/>
          </a:prstGeom>
          <a:noFill/>
          <a:ln/>
        </p:spPr>
        <p:txBody>
          <a:bodyPr wrap="square" lIns="0" tIns="0" rIns="0" bIns="0" rtlCol="0" anchor="ctr"/>
          <a:lstStyle/>
          <a:p>
            <a:pPr indent="0" marL="0">
              <a:buNone/>
            </a:pPr>
            <a:r>
              <a:rPr lang="en-US" sz="1000" b="1" dirty="0">
                <a:solidFill>
                  <a:srgbClr val="10B981"/>
                </a:solidFill>
                <a:latin typeface="Consolas" pitchFamily="34" charset="0"/>
                <a:ea typeface="Consolas" pitchFamily="34" charset="-122"/>
                <a:cs typeface="Consolas" pitchFamily="34" charset="-120"/>
              </a:rPr>
              <a:t>results=2  </a:t>
            </a:r>
            <a:pPr indent="0" marL="0">
              <a:buNone/>
            </a:pPr>
            <a:r>
              <a:rPr lang="en-US" sz="1000" dirty="0">
                <a:solidFill>
                  <a:srgbClr val="94A3B8"/>
                </a:solidFill>
                <a:latin typeface="Consolas" pitchFamily="34" charset="0"/>
                <a:ea typeface="Consolas" pitchFamily="34" charset="-122"/>
                <a:cs typeface="Consolas" pitchFamily="34" charset="-120"/>
              </a:rPr>
              <a:t>lines 35:36, 55:29</a:t>
            </a:r>
            <a:endParaRPr lang="en-US" sz="1000" dirty="0"/>
          </a:p>
        </p:txBody>
      </p:sp>
      <p:sp>
        <p:nvSpPr>
          <p:cNvPr id="16" name="Shape 14"/>
          <p:cNvSpPr/>
          <p:nvPr/>
        </p:nvSpPr>
        <p:spPr>
          <a:xfrm>
            <a:off x="457200" y="3611880"/>
            <a:ext cx="8229600" cy="1051560"/>
          </a:xfrm>
          <a:prstGeom prst="rect">
            <a:avLst/>
          </a:prstGeom>
          <a:solidFill>
            <a:srgbClr val="1E293B"/>
          </a:solidFill>
          <a:ln w="12700">
            <a:solidFill>
              <a:srgbClr val="334155"/>
            </a:solidFill>
            <a:prstDash val="solid"/>
          </a:ln>
        </p:spPr>
      </p:sp>
      <p:sp>
        <p:nvSpPr>
          <p:cNvPr id="17" name="Text 15"/>
          <p:cNvSpPr/>
          <p:nvPr/>
        </p:nvSpPr>
        <p:spPr>
          <a:xfrm>
            <a:off x="640080" y="3703320"/>
            <a:ext cx="3657600" cy="274320"/>
          </a:xfrm>
          <a:prstGeom prst="rect">
            <a:avLst/>
          </a:prstGeom>
          <a:noFill/>
          <a:ln/>
        </p:spPr>
        <p:txBody>
          <a:bodyPr wrap="square" lIns="0" tIns="0" rIns="0" bIns="0" rtlCol="0" anchor="ctr"/>
          <a:lstStyle/>
          <a:p>
            <a:pPr indent="0" marL="0">
              <a:buNone/>
            </a:pPr>
            <a:r>
              <a:rPr lang="en-US" sz="1100" b="1" spc="300" kern="0" dirty="0">
                <a:solidFill>
                  <a:srgbClr val="C084FC"/>
                </a:solidFill>
                <a:latin typeface="Calibri" pitchFamily="34" charset="0"/>
                <a:ea typeface="Calibri" pitchFamily="34" charset="-122"/>
                <a:cs typeface="Calibri" pitchFamily="34" charset="-120"/>
              </a:rPr>
              <a:t>Debug verification</a:t>
            </a:r>
            <a:endParaRPr lang="en-US" sz="1100" dirty="0"/>
          </a:p>
        </p:txBody>
      </p:sp>
      <p:sp>
        <p:nvSpPr>
          <p:cNvPr id="18" name="Text 16"/>
          <p:cNvSpPr/>
          <p:nvPr/>
        </p:nvSpPr>
        <p:spPr>
          <a:xfrm>
            <a:off x="640080" y="3977640"/>
            <a:ext cx="7863840" cy="640080"/>
          </a:xfrm>
          <a:prstGeom prst="rect">
            <a:avLst/>
          </a:prstGeom>
          <a:noFill/>
          <a:ln/>
        </p:spPr>
        <p:txBody>
          <a:bodyPr wrap="square" lIns="0" tIns="0" rIns="0" bIns="0" rtlCol="0" anchor="t"/>
          <a:lstStyle/>
          <a:p>
            <a:pPr indent="0" marL="0">
              <a:buNone/>
            </a:pPr>
            <a:r>
              <a:rPr lang="en-US" sz="1100" dirty="0">
                <a:solidFill>
                  <a:srgbClr val="94A3B8"/>
                </a:solidFill>
                <a:latin typeface="Consolas" pitchFamily="34" charset="0"/>
                <a:ea typeface="Consolas" pitchFamily="34" charset="-122"/>
                <a:cs typeface="Consolas" pitchFamily="34" charset="-120"/>
              </a:rPr>
              <a:t>createNativeQuery(...)  → </a:t>
            </a:r>
            <a:pPr indent="0" marL="0">
              <a:buNone/>
            </a:pPr>
            <a:r>
              <a:rPr lang="en-US" sz="1100" dirty="0">
                <a:solidFill>
                  <a:srgbClr val="10B981"/>
                </a:solidFill>
                <a:latin typeface="Consolas" pitchFamily="34" charset="0"/>
                <a:ea typeface="Consolas" pitchFamily="34" charset="-122"/>
                <a:cs typeface="Consolas" pitchFamily="34" charset="-120"/>
              </a:rPr>
              <a:t>jakarta.persistence.EntityManager.createNativeQuery</a:t>
            </a:r>
            <a:endParaRPr lang="en-US" sz="1100" dirty="0"/>
          </a:p>
          <a:p>
            <a:pPr indent="0" marL="0">
              <a:buNone/>
            </a:pPr>
            <a:r>
              <a:rPr lang="en-US" sz="1100" dirty="0">
                <a:solidFill>
                  <a:srgbClr val="94A3B8"/>
                </a:solidFill>
                <a:latin typeface="Consolas" pitchFamily="34" charset="0"/>
                <a:ea typeface="Consolas" pitchFamily="34" charset="-122"/>
                <a:cs typeface="Consolas" pitchFamily="34" charset="-120"/>
              </a:rPr>
              <a:t>list(...)               → </a:t>
            </a:r>
            <a:pPr indent="0" marL="0">
              <a:buNone/>
            </a:pPr>
            <a:r>
              <a:rPr lang="en-US" sz="1100" dirty="0">
                <a:solidFill>
                  <a:srgbClr val="10B981"/>
                </a:solidFill>
                <a:latin typeface="Consolas" pitchFamily="34" charset="0"/>
                <a:ea typeface="Consolas" pitchFamily="34" charset="-122"/>
                <a:cs typeface="Consolas" pitchFamily="34" charset="-120"/>
              </a:rPr>
              <a:t>io.quarkus.hibernate.orm.panache.PanacheEntityBase.list</a:t>
            </a:r>
            <a:endParaRPr lang="en-US" sz="1100" dirty="0"/>
          </a:p>
        </p:txBody>
      </p:sp>
      <p:sp>
        <p:nvSpPr>
          <p:cNvPr id="20" name="Shape 17"/>
          <p:cNvSpPr/>
          <p:nvPr/>
        </p:nvSpPr>
        <p:spPr>
          <a:xfrm>
            <a:off x="0" y="4937760"/>
            <a:ext cx="9144000" cy="205740"/>
          </a:xfrm>
          <a:prstGeom prst="rect">
            <a:avLst/>
          </a:prstGeom>
          <a:solidFill>
            <a:srgbClr val="1E293B"/>
          </a:solidFill>
          <a:ln w="12700">
            <a:solidFill>
              <a:srgbClr val="1E293B"/>
            </a:solidFill>
            <a:prstDash val="solid"/>
          </a:ln>
        </p:spPr>
      </p:sp>
      <p:sp>
        <p:nvSpPr>
          <p:cNvPr id="21" name="Text 18"/>
          <p:cNvSpPr/>
          <p:nvPr/>
        </p:nvSpPr>
        <p:spPr>
          <a:xfrm>
            <a:off x="365760" y="4937760"/>
            <a:ext cx="5486400" cy="2057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CodeQL Proof  ·  JPA vs Quarkus/Panache</a:t>
            </a:r>
            <a:endParaRPr lang="en-US" sz="900" dirty="0"/>
          </a:p>
        </p:txBody>
      </p:sp>
      <p:sp>
        <p:nvSpPr>
          <p:cNvPr id="22" name="Text 19"/>
          <p:cNvSpPr/>
          <p:nvPr/>
        </p:nvSpPr>
        <p:spPr>
          <a:xfrm>
            <a:off x="7863840" y="4937760"/>
            <a:ext cx="914400" cy="20574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1000" b="1" spc="400" kern="0" dirty="0">
                <a:solidFill>
                  <a:srgbClr val="38BDF8"/>
                </a:solidFill>
                <a:latin typeface="Calibri" pitchFamily="34" charset="0"/>
                <a:ea typeface="Calibri" pitchFamily="34" charset="-122"/>
                <a:cs typeface="Calibri" pitchFamily="34" charset="-120"/>
              </a:rPr>
              <a:t>WHAT THIS PROVES</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Two distinct conclusions, ready for stakeholders</a:t>
            </a:r>
            <a:endParaRPr lang="en-US" sz="2800" dirty="0"/>
          </a:p>
        </p:txBody>
      </p:sp>
      <p:sp>
        <p:nvSpPr>
          <p:cNvPr id="4" name="Shape 2"/>
          <p:cNvSpPr/>
          <p:nvPr/>
        </p:nvSpPr>
        <p:spPr>
          <a:xfrm>
            <a:off x="457200" y="1280160"/>
            <a:ext cx="4023360" cy="3291840"/>
          </a:xfrm>
          <a:prstGeom prst="rect">
            <a:avLst/>
          </a:prstGeom>
          <a:solidFill>
            <a:srgbClr val="1E293B"/>
          </a:solidFill>
          <a:ln w="12700">
            <a:solidFill>
              <a:srgbClr val="334155"/>
            </a:solidFill>
            <a:prstDash val="solid"/>
          </a:ln>
        </p:spPr>
      </p:sp>
      <p:sp>
        <p:nvSpPr>
          <p:cNvPr id="5" name="Shape 3"/>
          <p:cNvSpPr/>
          <p:nvPr/>
        </p:nvSpPr>
        <p:spPr>
          <a:xfrm>
            <a:off x="457200" y="1280160"/>
            <a:ext cx="73152" cy="3291840"/>
          </a:xfrm>
          <a:prstGeom prst="rect">
            <a:avLst/>
          </a:prstGeom>
          <a:solidFill>
            <a:srgbClr val="10B981"/>
          </a:solidFill>
          <a:ln w="12700">
            <a:solidFill>
              <a:srgbClr val="10B981"/>
            </a:solidFill>
            <a:prstDash val="solid"/>
          </a:ln>
        </p:spPr>
      </p:sp>
      <p:sp>
        <p:nvSpPr>
          <p:cNvPr id="6" name="Text 4"/>
          <p:cNvSpPr/>
          <p:nvPr/>
        </p:nvSpPr>
        <p:spPr>
          <a:xfrm>
            <a:off x="731520" y="1417320"/>
            <a:ext cx="3657600" cy="365760"/>
          </a:xfrm>
          <a:prstGeom prst="rect">
            <a:avLst/>
          </a:prstGeom>
          <a:noFill/>
          <a:ln/>
        </p:spPr>
        <p:txBody>
          <a:bodyPr wrap="square" lIns="0" tIns="0" rIns="0" bIns="0" rtlCol="0" anchor="ctr"/>
          <a:lstStyle/>
          <a:p>
            <a:pPr indent="0" marL="0">
              <a:buNone/>
            </a:pPr>
            <a:r>
              <a:rPr lang="en-US" sz="1800" b="1" dirty="0">
                <a:solidFill>
                  <a:srgbClr val="10B981"/>
                </a:solidFill>
                <a:latin typeface="Cambria" pitchFamily="34" charset="0"/>
                <a:ea typeface="Cambria" pitchFamily="34" charset="-122"/>
                <a:cs typeface="Cambria" pitchFamily="34" charset="-120"/>
              </a:rPr>
              <a:t>JPA — already covered</a:t>
            </a:r>
            <a:endParaRPr lang="en-US" sz="1800" dirty="0"/>
          </a:p>
        </p:txBody>
      </p:sp>
      <p:sp>
        <p:nvSpPr>
          <p:cNvPr id="7" name="Shape 5"/>
          <p:cNvSpPr/>
          <p:nvPr/>
        </p:nvSpPr>
        <p:spPr>
          <a:xfrm>
            <a:off x="731520" y="1874520"/>
            <a:ext cx="3611880" cy="502920"/>
          </a:xfrm>
          <a:prstGeom prst="rect">
            <a:avLst/>
          </a:prstGeom>
          <a:solidFill>
            <a:srgbClr val="111827"/>
          </a:solidFill>
          <a:ln w="6350">
            <a:solidFill>
              <a:srgbClr val="334155"/>
            </a:solidFill>
            <a:prstDash val="solid"/>
          </a:ln>
        </p:spPr>
      </p:sp>
      <p:sp>
        <p:nvSpPr>
          <p:cNvPr id="8" name="Text 6"/>
          <p:cNvSpPr/>
          <p:nvPr/>
        </p:nvSpPr>
        <p:spPr>
          <a:xfrm>
            <a:off x="822960" y="1874520"/>
            <a:ext cx="3520440" cy="502920"/>
          </a:xfrm>
          <a:prstGeom prst="rect">
            <a:avLst/>
          </a:prstGeom>
          <a:noFill/>
          <a:ln/>
        </p:spPr>
        <p:txBody>
          <a:bodyPr wrap="square" lIns="0" tIns="0" rIns="0" bIns="0" rtlCol="0" anchor="ctr"/>
          <a:lstStyle/>
          <a:p>
            <a:pPr indent="0" marL="0">
              <a:buNone/>
            </a:pPr>
            <a:r>
              <a:rPr lang="en-US" sz="950" dirty="0">
                <a:solidFill>
                  <a:srgbClr val="F1F5F9"/>
                </a:solidFill>
                <a:latin typeface="Consolas" pitchFamily="34" charset="0"/>
                <a:ea typeface="Consolas" pitchFamily="34" charset="-122"/>
                <a:cs typeface="Consolas" pitchFamily="34" charset="-120"/>
              </a:rPr>
              <a:t>@QueryParam → concat → createNativeQuery</a:t>
            </a:r>
            <a:endParaRPr lang="en-US" sz="950" dirty="0"/>
          </a:p>
        </p:txBody>
      </p:sp>
      <p:sp>
        <p:nvSpPr>
          <p:cNvPr id="9" name="Text 7"/>
          <p:cNvSpPr/>
          <p:nvPr/>
        </p:nvSpPr>
        <p:spPr>
          <a:xfrm>
            <a:off x="731520" y="2560320"/>
            <a:ext cx="3611880" cy="182880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The direct JPA sink is detected without any custom modeling. Standard CodeQL Java queries cover Jakarta Persistence — not a Quarkus modeling gap.</a:t>
            </a:r>
            <a:endParaRPr lang="en-US" sz="1200" dirty="0"/>
          </a:p>
        </p:txBody>
      </p:sp>
      <p:sp>
        <p:nvSpPr>
          <p:cNvPr id="10" name="Shape 8"/>
          <p:cNvSpPr/>
          <p:nvPr/>
        </p:nvSpPr>
        <p:spPr>
          <a:xfrm>
            <a:off x="4663440" y="1280160"/>
            <a:ext cx="4023360" cy="3291840"/>
          </a:xfrm>
          <a:prstGeom prst="rect">
            <a:avLst/>
          </a:prstGeom>
          <a:solidFill>
            <a:srgbClr val="1E293B"/>
          </a:solidFill>
          <a:ln w="12700">
            <a:solidFill>
              <a:srgbClr val="334155"/>
            </a:solidFill>
            <a:prstDash val="solid"/>
          </a:ln>
        </p:spPr>
      </p:sp>
      <p:sp>
        <p:nvSpPr>
          <p:cNvPr id="11" name="Shape 9"/>
          <p:cNvSpPr/>
          <p:nvPr/>
        </p:nvSpPr>
        <p:spPr>
          <a:xfrm>
            <a:off x="4663440" y="1280160"/>
            <a:ext cx="73152" cy="3291840"/>
          </a:xfrm>
          <a:prstGeom prst="rect">
            <a:avLst/>
          </a:prstGeom>
          <a:solidFill>
            <a:srgbClr val="F59E0B"/>
          </a:solidFill>
          <a:ln w="12700">
            <a:solidFill>
              <a:srgbClr val="F59E0B"/>
            </a:solidFill>
            <a:prstDash val="solid"/>
          </a:ln>
        </p:spPr>
      </p:sp>
      <p:sp>
        <p:nvSpPr>
          <p:cNvPr id="12" name="Text 10"/>
          <p:cNvSpPr/>
          <p:nvPr/>
        </p:nvSpPr>
        <p:spPr>
          <a:xfrm>
            <a:off x="4937760" y="1417320"/>
            <a:ext cx="3657600" cy="365760"/>
          </a:xfrm>
          <a:prstGeom prst="rect">
            <a:avLst/>
          </a:prstGeom>
          <a:noFill/>
          <a:ln/>
        </p:spPr>
        <p:txBody>
          <a:bodyPr wrap="square" lIns="0" tIns="0" rIns="0" bIns="0" rtlCol="0" anchor="ctr"/>
          <a:lstStyle/>
          <a:p>
            <a:pPr indent="0" marL="0">
              <a:buNone/>
            </a:pPr>
            <a:r>
              <a:rPr lang="en-US" sz="1800" b="1" dirty="0">
                <a:solidFill>
                  <a:srgbClr val="F59E0B"/>
                </a:solidFill>
                <a:latin typeface="Cambria" pitchFamily="34" charset="0"/>
                <a:ea typeface="Cambria" pitchFamily="34" charset="-122"/>
                <a:cs typeface="Cambria" pitchFamily="34" charset="-120"/>
              </a:rPr>
              <a:t>Panache — gap closed</a:t>
            </a:r>
            <a:endParaRPr lang="en-US" sz="1800" dirty="0"/>
          </a:p>
        </p:txBody>
      </p:sp>
      <p:sp>
        <p:nvSpPr>
          <p:cNvPr id="13" name="Shape 11"/>
          <p:cNvSpPr/>
          <p:nvPr/>
        </p:nvSpPr>
        <p:spPr>
          <a:xfrm>
            <a:off x="4937760" y="1874520"/>
            <a:ext cx="3611880" cy="502920"/>
          </a:xfrm>
          <a:prstGeom prst="rect">
            <a:avLst/>
          </a:prstGeom>
          <a:solidFill>
            <a:srgbClr val="111827"/>
          </a:solidFill>
          <a:ln w="6350">
            <a:solidFill>
              <a:srgbClr val="334155"/>
            </a:solidFill>
            <a:prstDash val="solid"/>
          </a:ln>
        </p:spPr>
      </p:sp>
      <p:sp>
        <p:nvSpPr>
          <p:cNvPr id="14" name="Text 12"/>
          <p:cNvSpPr/>
          <p:nvPr/>
        </p:nvSpPr>
        <p:spPr>
          <a:xfrm>
            <a:off x="5029200" y="1874520"/>
            <a:ext cx="3520440" cy="502920"/>
          </a:xfrm>
          <a:prstGeom prst="rect">
            <a:avLst/>
          </a:prstGeom>
          <a:noFill/>
          <a:ln/>
        </p:spPr>
        <p:txBody>
          <a:bodyPr wrap="square" lIns="0" tIns="0" rIns="0" bIns="0" rtlCol="0" anchor="ctr"/>
          <a:lstStyle/>
          <a:p>
            <a:pPr indent="0" marL="0">
              <a:buNone/>
            </a:pPr>
            <a:r>
              <a:rPr lang="en-US" sz="950" dirty="0">
                <a:solidFill>
                  <a:srgbClr val="F1F5F9"/>
                </a:solidFill>
                <a:latin typeface="Consolas" pitchFamily="34" charset="0"/>
                <a:ea typeface="Consolas" pitchFamily="34" charset="-122"/>
                <a:cs typeface="Consolas" pitchFamily="34" charset="-120"/>
              </a:rPr>
              <a:t>@QueryParam → concat → list(query)</a:t>
            </a:r>
            <a:endParaRPr lang="en-US" sz="950" dirty="0"/>
          </a:p>
        </p:txBody>
      </p:sp>
      <p:sp>
        <p:nvSpPr>
          <p:cNvPr id="15" name="Text 13"/>
          <p:cNvSpPr/>
          <p:nvPr/>
        </p:nvSpPr>
        <p:spPr>
          <a:xfrm>
            <a:off x="4937760" y="2560320"/>
            <a:ext cx="3611880" cy="182880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Baseline misses this. Adding PanacheEntityBase.list(Argument[0]) as a sql-injection sink lets the standard query report it — without changing app code or writing a new query.</a:t>
            </a:r>
            <a:endParaRPr lang="en-US" sz="1200" dirty="0"/>
          </a:p>
        </p:txBody>
      </p:sp>
      <p:sp>
        <p:nvSpPr>
          <p:cNvPr id="16" name="Text 14"/>
          <p:cNvSpPr/>
          <p:nvPr/>
        </p:nvSpPr>
        <p:spPr>
          <a:xfrm>
            <a:off x="457200" y="4617720"/>
            <a:ext cx="8229600" cy="274320"/>
          </a:xfrm>
          <a:prstGeom prst="rect">
            <a:avLst/>
          </a:prstGeom>
          <a:noFill/>
          <a:ln/>
        </p:spPr>
        <p:txBody>
          <a:bodyPr wrap="square" lIns="0" tIns="0" rIns="0" bIns="0" rtlCol="0" anchor="ctr"/>
          <a:lstStyle/>
          <a:p>
            <a:pPr algn="ctr" indent="0" marL="0">
              <a:buNone/>
            </a:pPr>
            <a:r>
              <a:rPr lang="en-US" sz="1200" i="1" dirty="0">
                <a:solidFill>
                  <a:srgbClr val="38BDF8"/>
                </a:solidFill>
                <a:latin typeface="Calibri" pitchFamily="34" charset="0"/>
                <a:ea typeface="Calibri" pitchFamily="34" charset="-122"/>
                <a:cs typeface="Calibri" pitchFamily="34" charset="-120"/>
              </a:rPr>
              <a:t>Org-level model packs extend CodeQL's framework knowledge — surgically, and at scale.</a:t>
            </a:r>
            <a:endParaRPr lang="en-US" sz="1200" dirty="0"/>
          </a:p>
        </p:txBody>
      </p:sp>
      <p:sp>
        <p:nvSpPr>
          <p:cNvPr id="18" name="Shape 15"/>
          <p:cNvSpPr/>
          <p:nvPr/>
        </p:nvSpPr>
        <p:spPr>
          <a:xfrm>
            <a:off x="0" y="4937760"/>
            <a:ext cx="9144000" cy="205740"/>
          </a:xfrm>
          <a:prstGeom prst="rect">
            <a:avLst/>
          </a:prstGeom>
          <a:solidFill>
            <a:srgbClr val="1E293B"/>
          </a:solidFill>
          <a:ln w="12700">
            <a:solidFill>
              <a:srgbClr val="1E293B"/>
            </a:solidFill>
            <a:prstDash val="solid"/>
          </a:ln>
        </p:spPr>
      </p:sp>
      <p:sp>
        <p:nvSpPr>
          <p:cNvPr id="19" name="Text 16"/>
          <p:cNvSpPr/>
          <p:nvPr/>
        </p:nvSpPr>
        <p:spPr>
          <a:xfrm>
            <a:off x="365760" y="4937760"/>
            <a:ext cx="5486400" cy="2057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CodeQL Proof  ·  JPA vs Quarkus/Panache</a:t>
            </a:r>
            <a:endParaRPr lang="en-US" sz="900" dirty="0"/>
          </a:p>
        </p:txBody>
      </p:sp>
      <p:sp>
        <p:nvSpPr>
          <p:cNvPr id="20" name="Text 17"/>
          <p:cNvSpPr/>
          <p:nvPr/>
        </p:nvSpPr>
        <p:spPr>
          <a:xfrm>
            <a:off x="7863840" y="4937760"/>
            <a:ext cx="914400" cy="20574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1000" b="1" spc="400" kern="0" dirty="0">
                <a:solidFill>
                  <a:srgbClr val="38BDF8"/>
                </a:solidFill>
                <a:latin typeface="Calibri" pitchFamily="34" charset="0"/>
                <a:ea typeface="Calibri" pitchFamily="34" charset="-122"/>
                <a:cs typeface="Calibri" pitchFamily="34" charset="-120"/>
              </a:rPr>
              <a:t>CAVEATS</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Read these before broad rollout</a:t>
            </a:r>
            <a:endParaRPr lang="en-US" sz="2800" dirty="0"/>
          </a:p>
        </p:txBody>
      </p:sp>
      <p:sp>
        <p:nvSpPr>
          <p:cNvPr id="4" name="Shape 2"/>
          <p:cNvSpPr/>
          <p:nvPr/>
        </p:nvSpPr>
        <p:spPr>
          <a:xfrm>
            <a:off x="457200" y="1280160"/>
            <a:ext cx="8229600" cy="566928"/>
          </a:xfrm>
          <a:prstGeom prst="rect">
            <a:avLst/>
          </a:prstGeom>
          <a:solidFill>
            <a:srgbClr val="1E293B"/>
          </a:solidFill>
          <a:ln w="6350">
            <a:solidFill>
              <a:srgbClr val="334155"/>
            </a:solidFill>
            <a:prstDash val="solid"/>
          </a:ln>
        </p:spPr>
      </p:sp>
      <p:sp>
        <p:nvSpPr>
          <p:cNvPr id="5" name="Shape 3"/>
          <p:cNvSpPr/>
          <p:nvPr/>
        </p:nvSpPr>
        <p:spPr>
          <a:xfrm>
            <a:off x="640080" y="1399032"/>
            <a:ext cx="329184" cy="329184"/>
          </a:xfrm>
          <a:prstGeom prst="ellipse">
            <a:avLst/>
          </a:prstGeom>
          <a:solidFill>
            <a:srgbClr val="F59E0B"/>
          </a:solidFill>
          <a:ln w="12700">
            <a:solidFill>
              <a:srgbClr val="F59E0B"/>
            </a:solidFill>
            <a:prstDash val="solid"/>
          </a:ln>
        </p:spPr>
      </p:sp>
      <p:sp>
        <p:nvSpPr>
          <p:cNvPr id="6" name="Text 4"/>
          <p:cNvSpPr/>
          <p:nvPr/>
        </p:nvSpPr>
        <p:spPr>
          <a:xfrm>
            <a:off x="640080" y="1399032"/>
            <a:ext cx="329184" cy="329184"/>
          </a:xfrm>
          <a:prstGeom prst="rect">
            <a:avLst/>
          </a:prstGeom>
          <a:noFill/>
          <a:ln/>
        </p:spPr>
        <p:txBody>
          <a:bodyPr wrap="square" lIns="0" tIns="0" rIns="0" bIns="0" rtlCol="0" anchor="ctr"/>
          <a:lstStyle/>
          <a:p>
            <a:pPr algn="ctr" indent="0" marL="0">
              <a:buNone/>
            </a:pPr>
            <a:r>
              <a:rPr lang="en-US" sz="1300" b="1" dirty="0">
                <a:solidFill>
                  <a:srgbClr val="0F172A"/>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097280" y="1280160"/>
            <a:ext cx="7406640" cy="566928"/>
          </a:xfrm>
          <a:prstGeom prst="rect">
            <a:avLst/>
          </a:prstGeom>
          <a:noFill/>
          <a:ln/>
        </p:spPr>
        <p:txBody>
          <a:bodyPr wrap="square" lIns="0" tIns="0" rIns="0" bIns="0" rtlCol="0" anchor="ctr"/>
          <a:lstStyle/>
          <a:p>
            <a:pPr indent="0" marL="0">
              <a:buNone/>
            </a:pPr>
            <a:r>
              <a:rPr lang="en-US" sz="1200" dirty="0">
                <a:solidFill>
                  <a:srgbClr val="F1F5F9"/>
                </a:solidFill>
                <a:latin typeface="Calibri" pitchFamily="34" charset="0"/>
                <a:ea typeface="Calibri" pitchFamily="34" charset="-122"/>
                <a:cs typeface="Calibri" pitchFamily="34" charset="-120"/>
              </a:rPr>
              <a:t>This model is intentionally simple — review before broad rollout.</a:t>
            </a:r>
            <a:endParaRPr lang="en-US" sz="1200" dirty="0"/>
          </a:p>
        </p:txBody>
      </p:sp>
      <p:sp>
        <p:nvSpPr>
          <p:cNvPr id="8" name="Shape 6"/>
          <p:cNvSpPr/>
          <p:nvPr/>
        </p:nvSpPr>
        <p:spPr>
          <a:xfrm>
            <a:off x="457200" y="1938528"/>
            <a:ext cx="8229600" cy="566928"/>
          </a:xfrm>
          <a:prstGeom prst="rect">
            <a:avLst/>
          </a:prstGeom>
          <a:solidFill>
            <a:srgbClr val="1E293B"/>
          </a:solidFill>
          <a:ln w="6350">
            <a:solidFill>
              <a:srgbClr val="334155"/>
            </a:solidFill>
            <a:prstDash val="solid"/>
          </a:ln>
        </p:spPr>
      </p:sp>
      <p:sp>
        <p:nvSpPr>
          <p:cNvPr id="9" name="Shape 7"/>
          <p:cNvSpPr/>
          <p:nvPr/>
        </p:nvSpPr>
        <p:spPr>
          <a:xfrm>
            <a:off x="640080" y="2057400"/>
            <a:ext cx="329184" cy="329184"/>
          </a:xfrm>
          <a:prstGeom prst="ellipse">
            <a:avLst/>
          </a:prstGeom>
          <a:solidFill>
            <a:srgbClr val="F59E0B"/>
          </a:solidFill>
          <a:ln w="12700">
            <a:solidFill>
              <a:srgbClr val="F59E0B"/>
            </a:solidFill>
            <a:prstDash val="solid"/>
          </a:ln>
        </p:spPr>
      </p:sp>
      <p:sp>
        <p:nvSpPr>
          <p:cNvPr id="10" name="Text 8"/>
          <p:cNvSpPr/>
          <p:nvPr/>
        </p:nvSpPr>
        <p:spPr>
          <a:xfrm>
            <a:off x="640080" y="2057400"/>
            <a:ext cx="329184" cy="329184"/>
          </a:xfrm>
          <a:prstGeom prst="rect">
            <a:avLst/>
          </a:prstGeom>
          <a:noFill/>
          <a:ln/>
        </p:spPr>
        <p:txBody>
          <a:bodyPr wrap="square" lIns="0" tIns="0" rIns="0" bIns="0" rtlCol="0" anchor="ctr"/>
          <a:lstStyle/>
          <a:p>
            <a:pPr algn="ctr" indent="0" marL="0">
              <a:buNone/>
            </a:pPr>
            <a:r>
              <a:rPr lang="en-US" sz="1300" b="1" dirty="0">
                <a:solidFill>
                  <a:srgbClr val="0F172A"/>
                </a:solidFill>
                <a:latin typeface="Cambria" pitchFamily="34" charset="0"/>
                <a:ea typeface="Cambria" pitchFamily="34" charset="-122"/>
                <a:cs typeface="Cambria" pitchFamily="34" charset="-120"/>
              </a:rPr>
              <a:t>2</a:t>
            </a:r>
            <a:endParaRPr lang="en-US" sz="1300" dirty="0"/>
          </a:p>
        </p:txBody>
      </p:sp>
      <p:sp>
        <p:nvSpPr>
          <p:cNvPr id="11" name="Text 9"/>
          <p:cNvSpPr/>
          <p:nvPr/>
        </p:nvSpPr>
        <p:spPr>
          <a:xfrm>
            <a:off x="1097280" y="1938528"/>
            <a:ext cx="7406640" cy="566928"/>
          </a:xfrm>
          <a:prstGeom prst="rect">
            <a:avLst/>
          </a:prstGeom>
          <a:noFill/>
          <a:ln/>
        </p:spPr>
        <p:txBody>
          <a:bodyPr wrap="square" lIns="0" tIns="0" rIns="0" bIns="0" rtlCol="0" anchor="ctr"/>
          <a:lstStyle/>
          <a:p>
            <a:pPr indent="0" marL="0">
              <a:buNone/>
            </a:pPr>
            <a:r>
              <a:rPr lang="en-US" sz="1200" dirty="0">
                <a:solidFill>
                  <a:srgbClr val="F1F5F9"/>
                </a:solidFill>
                <a:latin typeface="Calibri" pitchFamily="34" charset="0"/>
                <a:ea typeface="Calibri" pitchFamily="34" charset="-122"/>
                <a:cs typeface="Calibri" pitchFamily="34" charset="-120"/>
              </a:rPr>
              <a:t>Panache APIs have many overloads and query styles; validate each important usage.</a:t>
            </a:r>
            <a:endParaRPr lang="en-US" sz="1200" dirty="0"/>
          </a:p>
        </p:txBody>
      </p:sp>
      <p:sp>
        <p:nvSpPr>
          <p:cNvPr id="12" name="Shape 10"/>
          <p:cNvSpPr/>
          <p:nvPr/>
        </p:nvSpPr>
        <p:spPr>
          <a:xfrm>
            <a:off x="457200" y="2596896"/>
            <a:ext cx="8229600" cy="566928"/>
          </a:xfrm>
          <a:prstGeom prst="rect">
            <a:avLst/>
          </a:prstGeom>
          <a:solidFill>
            <a:srgbClr val="1E293B"/>
          </a:solidFill>
          <a:ln w="6350">
            <a:solidFill>
              <a:srgbClr val="334155"/>
            </a:solidFill>
            <a:prstDash val="solid"/>
          </a:ln>
        </p:spPr>
      </p:sp>
      <p:sp>
        <p:nvSpPr>
          <p:cNvPr id="13" name="Shape 11"/>
          <p:cNvSpPr/>
          <p:nvPr/>
        </p:nvSpPr>
        <p:spPr>
          <a:xfrm>
            <a:off x="640080" y="2715768"/>
            <a:ext cx="329184" cy="329184"/>
          </a:xfrm>
          <a:prstGeom prst="ellipse">
            <a:avLst/>
          </a:prstGeom>
          <a:solidFill>
            <a:srgbClr val="F59E0B"/>
          </a:solidFill>
          <a:ln w="12700">
            <a:solidFill>
              <a:srgbClr val="F59E0B"/>
            </a:solidFill>
            <a:prstDash val="solid"/>
          </a:ln>
        </p:spPr>
      </p:sp>
      <p:sp>
        <p:nvSpPr>
          <p:cNvPr id="14" name="Text 12"/>
          <p:cNvSpPr/>
          <p:nvPr/>
        </p:nvSpPr>
        <p:spPr>
          <a:xfrm>
            <a:off x="640080" y="2715768"/>
            <a:ext cx="329184" cy="329184"/>
          </a:xfrm>
          <a:prstGeom prst="rect">
            <a:avLst/>
          </a:prstGeom>
          <a:noFill/>
          <a:ln/>
        </p:spPr>
        <p:txBody>
          <a:bodyPr wrap="square" lIns="0" tIns="0" rIns="0" bIns="0" rtlCol="0" anchor="ctr"/>
          <a:lstStyle/>
          <a:p>
            <a:pPr algn="ctr" indent="0" marL="0">
              <a:buNone/>
            </a:pPr>
            <a:r>
              <a:rPr lang="en-US" sz="1300" b="1" dirty="0">
                <a:solidFill>
                  <a:srgbClr val="0F172A"/>
                </a:solidFill>
                <a:latin typeface="Cambria" pitchFamily="34" charset="0"/>
                <a:ea typeface="Cambria" pitchFamily="34" charset="-122"/>
                <a:cs typeface="Cambria" pitchFamily="34" charset="-120"/>
              </a:rPr>
              <a:t>3</a:t>
            </a:r>
            <a:endParaRPr lang="en-US" sz="1300" dirty="0"/>
          </a:p>
        </p:txBody>
      </p:sp>
      <p:sp>
        <p:nvSpPr>
          <p:cNvPr id="15" name="Text 13"/>
          <p:cNvSpPr/>
          <p:nvPr/>
        </p:nvSpPr>
        <p:spPr>
          <a:xfrm>
            <a:off x="1097280" y="2596896"/>
            <a:ext cx="7406640" cy="566928"/>
          </a:xfrm>
          <a:prstGeom prst="rect">
            <a:avLst/>
          </a:prstGeom>
          <a:noFill/>
          <a:ln/>
        </p:spPr>
        <p:txBody>
          <a:bodyPr wrap="square" lIns="0" tIns="0" rIns="0" bIns="0" rtlCol="0" anchor="ctr"/>
          <a:lstStyle/>
          <a:p>
            <a:pPr indent="0" marL="0">
              <a:buNone/>
            </a:pPr>
            <a:r>
              <a:rPr lang="en-US" sz="1200" dirty="0">
                <a:solidFill>
                  <a:srgbClr val="F1F5F9"/>
                </a:solidFill>
                <a:latin typeface="Calibri" pitchFamily="34" charset="0"/>
                <a:ea typeface="Calibri" pitchFamily="34" charset="-122"/>
                <a:cs typeface="Calibri" pitchFamily="34" charset="-120"/>
              </a:rPr>
              <a:t>Modeling list and find broadly may raise false positives if safe parameterized overloads aren't distinguished.</a:t>
            </a:r>
            <a:endParaRPr lang="en-US" sz="1200" dirty="0"/>
          </a:p>
        </p:txBody>
      </p:sp>
      <p:sp>
        <p:nvSpPr>
          <p:cNvPr id="16" name="Shape 14"/>
          <p:cNvSpPr/>
          <p:nvPr/>
        </p:nvSpPr>
        <p:spPr>
          <a:xfrm>
            <a:off x="457200" y="3255264"/>
            <a:ext cx="8229600" cy="566928"/>
          </a:xfrm>
          <a:prstGeom prst="rect">
            <a:avLst/>
          </a:prstGeom>
          <a:solidFill>
            <a:srgbClr val="1E293B"/>
          </a:solidFill>
          <a:ln w="6350">
            <a:solidFill>
              <a:srgbClr val="334155"/>
            </a:solidFill>
            <a:prstDash val="solid"/>
          </a:ln>
        </p:spPr>
      </p:sp>
      <p:sp>
        <p:nvSpPr>
          <p:cNvPr id="17" name="Shape 15"/>
          <p:cNvSpPr/>
          <p:nvPr/>
        </p:nvSpPr>
        <p:spPr>
          <a:xfrm>
            <a:off x="640080" y="3374136"/>
            <a:ext cx="329184" cy="329184"/>
          </a:xfrm>
          <a:prstGeom prst="ellipse">
            <a:avLst/>
          </a:prstGeom>
          <a:solidFill>
            <a:srgbClr val="F59E0B"/>
          </a:solidFill>
          <a:ln w="12700">
            <a:solidFill>
              <a:srgbClr val="F59E0B"/>
            </a:solidFill>
            <a:prstDash val="solid"/>
          </a:ln>
        </p:spPr>
      </p:sp>
      <p:sp>
        <p:nvSpPr>
          <p:cNvPr id="18" name="Text 16"/>
          <p:cNvSpPr/>
          <p:nvPr/>
        </p:nvSpPr>
        <p:spPr>
          <a:xfrm>
            <a:off x="640080" y="3374136"/>
            <a:ext cx="329184" cy="329184"/>
          </a:xfrm>
          <a:prstGeom prst="rect">
            <a:avLst/>
          </a:prstGeom>
          <a:noFill/>
          <a:ln/>
        </p:spPr>
        <p:txBody>
          <a:bodyPr wrap="square" lIns="0" tIns="0" rIns="0" bIns="0" rtlCol="0" anchor="ctr"/>
          <a:lstStyle/>
          <a:p>
            <a:pPr algn="ctr" indent="0" marL="0">
              <a:buNone/>
            </a:pPr>
            <a:r>
              <a:rPr lang="en-US" sz="1300" b="1" dirty="0">
                <a:solidFill>
                  <a:srgbClr val="0F172A"/>
                </a:solidFill>
                <a:latin typeface="Cambria" pitchFamily="34" charset="0"/>
                <a:ea typeface="Cambria" pitchFamily="34" charset="-122"/>
                <a:cs typeface="Cambria" pitchFamily="34" charset="-120"/>
              </a:rPr>
              <a:t>4</a:t>
            </a:r>
            <a:endParaRPr lang="en-US" sz="1300" dirty="0"/>
          </a:p>
        </p:txBody>
      </p:sp>
      <p:sp>
        <p:nvSpPr>
          <p:cNvPr id="19" name="Text 17"/>
          <p:cNvSpPr/>
          <p:nvPr/>
        </p:nvSpPr>
        <p:spPr>
          <a:xfrm>
            <a:off x="1097280" y="3255264"/>
            <a:ext cx="7406640" cy="566928"/>
          </a:xfrm>
          <a:prstGeom prst="rect">
            <a:avLst/>
          </a:prstGeom>
          <a:noFill/>
          <a:ln/>
        </p:spPr>
        <p:txBody>
          <a:bodyPr wrap="square" lIns="0" tIns="0" rIns="0" bIns="0" rtlCol="0" anchor="ctr"/>
          <a:lstStyle/>
          <a:p>
            <a:pPr indent="0" marL="0">
              <a:buNone/>
            </a:pPr>
            <a:r>
              <a:rPr lang="en-US" sz="1200" dirty="0">
                <a:solidFill>
                  <a:srgbClr val="F1F5F9"/>
                </a:solidFill>
                <a:latin typeface="Calibri" pitchFamily="34" charset="0"/>
                <a:ea typeface="Calibri" pitchFamily="34" charset="-122"/>
                <a:cs typeface="Calibri" pitchFamily="34" charset="-120"/>
              </a:rPr>
              <a:t>A production model pack should include a coverage matrix, FP review, and tests for representative repo patterns.</a:t>
            </a:r>
            <a:endParaRPr lang="en-US" sz="1200" dirty="0"/>
          </a:p>
        </p:txBody>
      </p:sp>
      <p:sp>
        <p:nvSpPr>
          <p:cNvPr id="20" name="Shape 18"/>
          <p:cNvSpPr/>
          <p:nvPr/>
        </p:nvSpPr>
        <p:spPr>
          <a:xfrm>
            <a:off x="457200" y="3913632"/>
            <a:ext cx="8229600" cy="566928"/>
          </a:xfrm>
          <a:prstGeom prst="rect">
            <a:avLst/>
          </a:prstGeom>
          <a:solidFill>
            <a:srgbClr val="1E293B"/>
          </a:solidFill>
          <a:ln w="6350">
            <a:solidFill>
              <a:srgbClr val="334155"/>
            </a:solidFill>
            <a:prstDash val="solid"/>
          </a:ln>
        </p:spPr>
      </p:sp>
      <p:sp>
        <p:nvSpPr>
          <p:cNvPr id="21" name="Shape 19"/>
          <p:cNvSpPr/>
          <p:nvPr/>
        </p:nvSpPr>
        <p:spPr>
          <a:xfrm>
            <a:off x="640080" y="4032504"/>
            <a:ext cx="329184" cy="329184"/>
          </a:xfrm>
          <a:prstGeom prst="ellipse">
            <a:avLst/>
          </a:prstGeom>
          <a:solidFill>
            <a:srgbClr val="F59E0B"/>
          </a:solidFill>
          <a:ln w="12700">
            <a:solidFill>
              <a:srgbClr val="F59E0B"/>
            </a:solidFill>
            <a:prstDash val="solid"/>
          </a:ln>
        </p:spPr>
      </p:sp>
      <p:sp>
        <p:nvSpPr>
          <p:cNvPr id="22" name="Text 20"/>
          <p:cNvSpPr/>
          <p:nvPr/>
        </p:nvSpPr>
        <p:spPr>
          <a:xfrm>
            <a:off x="640080" y="4032504"/>
            <a:ext cx="329184" cy="329184"/>
          </a:xfrm>
          <a:prstGeom prst="rect">
            <a:avLst/>
          </a:prstGeom>
          <a:noFill/>
          <a:ln/>
        </p:spPr>
        <p:txBody>
          <a:bodyPr wrap="square" lIns="0" tIns="0" rIns="0" bIns="0" rtlCol="0" anchor="ctr"/>
          <a:lstStyle/>
          <a:p>
            <a:pPr algn="ctr" indent="0" marL="0">
              <a:buNone/>
            </a:pPr>
            <a:r>
              <a:rPr lang="en-US" sz="1300" b="1" dirty="0">
                <a:solidFill>
                  <a:srgbClr val="0F172A"/>
                </a:solidFill>
                <a:latin typeface="Cambria" pitchFamily="34" charset="0"/>
                <a:ea typeface="Cambria" pitchFamily="34" charset="-122"/>
                <a:cs typeface="Cambria" pitchFamily="34" charset="-120"/>
              </a:rPr>
              <a:t>5</a:t>
            </a:r>
            <a:endParaRPr lang="en-US" sz="1300" dirty="0"/>
          </a:p>
        </p:txBody>
      </p:sp>
      <p:sp>
        <p:nvSpPr>
          <p:cNvPr id="23" name="Text 21"/>
          <p:cNvSpPr/>
          <p:nvPr/>
        </p:nvSpPr>
        <p:spPr>
          <a:xfrm>
            <a:off x="1097280" y="3913632"/>
            <a:ext cx="7406640" cy="566928"/>
          </a:xfrm>
          <a:prstGeom prst="rect">
            <a:avLst/>
          </a:prstGeom>
          <a:noFill/>
          <a:ln/>
        </p:spPr>
        <p:txBody>
          <a:bodyPr wrap="square" lIns="0" tIns="0" rIns="0" bIns="0" rtlCol="0" anchor="ctr"/>
          <a:lstStyle/>
          <a:p>
            <a:pPr indent="0" marL="0">
              <a:buNone/>
            </a:pPr>
            <a:r>
              <a:rPr lang="en-US" sz="1200" dirty="0">
                <a:solidFill>
                  <a:srgbClr val="F1F5F9"/>
                </a:solidFill>
                <a:latin typeface="Calibri" pitchFamily="34" charset="0"/>
                <a:ea typeface="Calibri" pitchFamily="34" charset="-122"/>
                <a:cs typeface="Calibri" pitchFamily="34" charset="-120"/>
              </a:rPr>
              <a:t>Legacy JBoss/Hibernate stacks need separate assessment — many direct sinks are already modeled, but DAO wrappers may not be.</a:t>
            </a:r>
            <a:endParaRPr lang="en-US" sz="1200" dirty="0"/>
          </a:p>
        </p:txBody>
      </p:sp>
      <p:sp>
        <p:nvSpPr>
          <p:cNvPr id="25" name="Shape 22"/>
          <p:cNvSpPr/>
          <p:nvPr/>
        </p:nvSpPr>
        <p:spPr>
          <a:xfrm>
            <a:off x="0" y="4937760"/>
            <a:ext cx="9144000" cy="205740"/>
          </a:xfrm>
          <a:prstGeom prst="rect">
            <a:avLst/>
          </a:prstGeom>
          <a:solidFill>
            <a:srgbClr val="1E293B"/>
          </a:solidFill>
          <a:ln w="12700">
            <a:solidFill>
              <a:srgbClr val="1E293B"/>
            </a:solidFill>
            <a:prstDash val="solid"/>
          </a:ln>
        </p:spPr>
      </p:sp>
      <p:sp>
        <p:nvSpPr>
          <p:cNvPr id="26" name="Text 23"/>
          <p:cNvSpPr/>
          <p:nvPr/>
        </p:nvSpPr>
        <p:spPr>
          <a:xfrm>
            <a:off x="365760" y="4937760"/>
            <a:ext cx="5486400" cy="2057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CodeQL Proof  ·  JPA vs Quarkus/Panache</a:t>
            </a:r>
            <a:endParaRPr lang="en-US" sz="900" dirty="0"/>
          </a:p>
        </p:txBody>
      </p:sp>
      <p:sp>
        <p:nvSpPr>
          <p:cNvPr id="27" name="Text 24"/>
          <p:cNvSpPr/>
          <p:nvPr/>
        </p:nvSpPr>
        <p:spPr>
          <a:xfrm>
            <a:off x="7863840" y="4937760"/>
            <a:ext cx="914400" cy="20574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lIns="0" tIns="0" rIns="0" bIns="0" rtlCol="0" anchor="ctr"/>
          <a:lstStyle/>
          <a:p>
            <a:pPr indent="0" marL="0">
              <a:buNone/>
            </a:pPr>
            <a:r>
              <a:rPr lang="en-US" sz="1000" b="1" spc="400" kern="0" dirty="0">
                <a:solidFill>
                  <a:srgbClr val="38BDF8"/>
                </a:solidFill>
                <a:latin typeface="Calibri" pitchFamily="34" charset="0"/>
                <a:ea typeface="Calibri" pitchFamily="34" charset="-122"/>
                <a:cs typeface="Calibri" pitchFamily="34" charset="-120"/>
              </a:rPr>
              <a:t>RECOMMENDED NEXT WORK</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From proof to production</a:t>
            </a:r>
            <a:endParaRPr lang="en-US" sz="2800" dirty="0"/>
          </a:p>
        </p:txBody>
      </p:sp>
      <p:sp>
        <p:nvSpPr>
          <p:cNvPr id="4" name="Shape 2"/>
          <p:cNvSpPr/>
          <p:nvPr/>
        </p:nvSpPr>
        <p:spPr>
          <a:xfrm>
            <a:off x="457200" y="1280160"/>
            <a:ext cx="4023360" cy="1005840"/>
          </a:xfrm>
          <a:prstGeom prst="rect">
            <a:avLst/>
          </a:prstGeom>
          <a:solidFill>
            <a:srgbClr val="1E293B"/>
          </a:solidFill>
          <a:ln w="9525">
            <a:solidFill>
              <a:srgbClr val="334155"/>
            </a:solidFill>
            <a:prstDash val="solid"/>
          </a:ln>
        </p:spPr>
      </p:sp>
      <p:sp>
        <p:nvSpPr>
          <p:cNvPr id="5" name="Shape 3"/>
          <p:cNvSpPr/>
          <p:nvPr/>
        </p:nvSpPr>
        <p:spPr>
          <a:xfrm>
            <a:off x="457200" y="1280160"/>
            <a:ext cx="73152" cy="1005840"/>
          </a:xfrm>
          <a:prstGeom prst="rect">
            <a:avLst/>
          </a:prstGeom>
          <a:solidFill>
            <a:srgbClr val="38BDF8"/>
          </a:solidFill>
          <a:ln w="12700">
            <a:solidFill>
              <a:srgbClr val="38BDF8"/>
            </a:solidFill>
            <a:prstDash val="solid"/>
          </a:ln>
        </p:spPr>
      </p:sp>
      <p:sp>
        <p:nvSpPr>
          <p:cNvPr id="6" name="Text 4"/>
          <p:cNvSpPr/>
          <p:nvPr/>
        </p:nvSpPr>
        <p:spPr>
          <a:xfrm>
            <a:off x="685800" y="1371600"/>
            <a:ext cx="640080" cy="365760"/>
          </a:xfrm>
          <a:prstGeom prst="rect">
            <a:avLst/>
          </a:prstGeom>
          <a:noFill/>
          <a:ln/>
        </p:spPr>
        <p:txBody>
          <a:bodyPr wrap="square" lIns="0" tIns="0" rIns="0" bIns="0" rtlCol="0" anchor="ctr"/>
          <a:lstStyle/>
          <a:p>
            <a:pPr indent="0" marL="0">
              <a:buNone/>
            </a:pPr>
            <a:r>
              <a:rPr lang="en-US" sz="2200" b="1" dirty="0">
                <a:solidFill>
                  <a:srgbClr val="38BDF8"/>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325880" y="1389888"/>
            <a:ext cx="3108960" cy="320040"/>
          </a:xfrm>
          <a:prstGeom prst="rect">
            <a:avLst/>
          </a:prstGeom>
          <a:noFill/>
          <a:ln/>
        </p:spPr>
        <p:txBody>
          <a:bodyPr wrap="square" lIns="0" tIns="0" rIns="0" bIns="0" rtlCol="0" anchor="ctr"/>
          <a:lstStyle/>
          <a:p>
            <a:pPr indent="0" marL="0">
              <a:buNone/>
            </a:pPr>
            <a:r>
              <a:rPr lang="en-US" sz="1400" b="1" dirty="0">
                <a:solidFill>
                  <a:srgbClr val="F1F5F9"/>
                </a:solidFill>
                <a:latin typeface="Cambria" pitchFamily="34" charset="0"/>
                <a:ea typeface="Cambria" pitchFamily="34" charset="-122"/>
                <a:cs typeface="Cambria" pitchFamily="34" charset="-120"/>
              </a:rPr>
              <a:t>Expand Panache coverage</a:t>
            </a:r>
            <a:endParaRPr lang="en-US" sz="1400" dirty="0"/>
          </a:p>
        </p:txBody>
      </p:sp>
      <p:sp>
        <p:nvSpPr>
          <p:cNvPr id="8" name="Text 6"/>
          <p:cNvSpPr/>
          <p:nvPr/>
        </p:nvSpPr>
        <p:spPr>
          <a:xfrm>
            <a:off x="1325880" y="1737360"/>
            <a:ext cx="3108960" cy="5029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Add stream, find, list, count, delete, update — gradually.</a:t>
            </a:r>
            <a:endParaRPr lang="en-US" sz="1100" dirty="0"/>
          </a:p>
        </p:txBody>
      </p:sp>
      <p:sp>
        <p:nvSpPr>
          <p:cNvPr id="9" name="Shape 7"/>
          <p:cNvSpPr/>
          <p:nvPr/>
        </p:nvSpPr>
        <p:spPr>
          <a:xfrm>
            <a:off x="457200" y="2377440"/>
            <a:ext cx="4023360" cy="1005840"/>
          </a:xfrm>
          <a:prstGeom prst="rect">
            <a:avLst/>
          </a:prstGeom>
          <a:solidFill>
            <a:srgbClr val="1E293B"/>
          </a:solidFill>
          <a:ln w="9525">
            <a:solidFill>
              <a:srgbClr val="334155"/>
            </a:solidFill>
            <a:prstDash val="solid"/>
          </a:ln>
        </p:spPr>
      </p:sp>
      <p:sp>
        <p:nvSpPr>
          <p:cNvPr id="10" name="Shape 8"/>
          <p:cNvSpPr/>
          <p:nvPr/>
        </p:nvSpPr>
        <p:spPr>
          <a:xfrm>
            <a:off x="457200" y="2377440"/>
            <a:ext cx="73152" cy="1005840"/>
          </a:xfrm>
          <a:prstGeom prst="rect">
            <a:avLst/>
          </a:prstGeom>
          <a:solidFill>
            <a:srgbClr val="38BDF8"/>
          </a:solidFill>
          <a:ln w="12700">
            <a:solidFill>
              <a:srgbClr val="38BDF8"/>
            </a:solidFill>
            <a:prstDash val="solid"/>
          </a:ln>
        </p:spPr>
      </p:sp>
      <p:sp>
        <p:nvSpPr>
          <p:cNvPr id="11" name="Text 9"/>
          <p:cNvSpPr/>
          <p:nvPr/>
        </p:nvSpPr>
        <p:spPr>
          <a:xfrm>
            <a:off x="685800" y="2468880"/>
            <a:ext cx="640080" cy="365760"/>
          </a:xfrm>
          <a:prstGeom prst="rect">
            <a:avLst/>
          </a:prstGeom>
          <a:noFill/>
          <a:ln/>
        </p:spPr>
        <p:txBody>
          <a:bodyPr wrap="square" lIns="0" tIns="0" rIns="0" bIns="0" rtlCol="0" anchor="ctr"/>
          <a:lstStyle/>
          <a:p>
            <a:pPr indent="0" marL="0">
              <a:buNone/>
            </a:pPr>
            <a:r>
              <a:rPr lang="en-US" sz="2200" b="1" dirty="0">
                <a:solidFill>
                  <a:srgbClr val="38BDF8"/>
                </a:solidFill>
                <a:latin typeface="Cambria" pitchFamily="34" charset="0"/>
                <a:ea typeface="Cambria" pitchFamily="34" charset="-122"/>
                <a:cs typeface="Cambria" pitchFamily="34" charset="-120"/>
              </a:rPr>
              <a:t>02</a:t>
            </a:r>
            <a:endParaRPr lang="en-US" sz="2200" dirty="0"/>
          </a:p>
        </p:txBody>
      </p:sp>
      <p:sp>
        <p:nvSpPr>
          <p:cNvPr id="12" name="Text 10"/>
          <p:cNvSpPr/>
          <p:nvPr/>
        </p:nvSpPr>
        <p:spPr>
          <a:xfrm>
            <a:off x="1325880" y="2487168"/>
            <a:ext cx="3108960" cy="320040"/>
          </a:xfrm>
          <a:prstGeom prst="rect">
            <a:avLst/>
          </a:prstGeom>
          <a:noFill/>
          <a:ln/>
        </p:spPr>
        <p:txBody>
          <a:bodyPr wrap="square" lIns="0" tIns="0" rIns="0" bIns="0" rtlCol="0" anchor="ctr"/>
          <a:lstStyle/>
          <a:p>
            <a:pPr indent="0" marL="0">
              <a:buNone/>
            </a:pPr>
            <a:r>
              <a:rPr lang="en-US" sz="1400" b="1" dirty="0">
                <a:solidFill>
                  <a:srgbClr val="F1F5F9"/>
                </a:solidFill>
                <a:latin typeface="Cambria" pitchFamily="34" charset="0"/>
                <a:ea typeface="Cambria" pitchFamily="34" charset="-122"/>
                <a:cs typeface="Cambria" pitchFamily="34" charset="-120"/>
              </a:rPr>
              <a:t>Model real DAOs</a:t>
            </a:r>
            <a:endParaRPr lang="en-US" sz="1400" dirty="0"/>
          </a:p>
        </p:txBody>
      </p:sp>
      <p:sp>
        <p:nvSpPr>
          <p:cNvPr id="13" name="Text 11"/>
          <p:cNvSpPr/>
          <p:nvPr/>
        </p:nvSpPr>
        <p:spPr>
          <a:xfrm>
            <a:off x="1325880" y="2834640"/>
            <a:ext cx="3108960" cy="5029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Capture custom repository and DAO wrappers from the live application.</a:t>
            </a:r>
            <a:endParaRPr lang="en-US" sz="1100" dirty="0"/>
          </a:p>
        </p:txBody>
      </p:sp>
      <p:sp>
        <p:nvSpPr>
          <p:cNvPr id="14" name="Shape 12"/>
          <p:cNvSpPr/>
          <p:nvPr/>
        </p:nvSpPr>
        <p:spPr>
          <a:xfrm>
            <a:off x="457200" y="3474720"/>
            <a:ext cx="4023360" cy="1005840"/>
          </a:xfrm>
          <a:prstGeom prst="rect">
            <a:avLst/>
          </a:prstGeom>
          <a:solidFill>
            <a:srgbClr val="1E293B"/>
          </a:solidFill>
          <a:ln w="9525">
            <a:solidFill>
              <a:srgbClr val="334155"/>
            </a:solidFill>
            <a:prstDash val="solid"/>
          </a:ln>
        </p:spPr>
      </p:sp>
      <p:sp>
        <p:nvSpPr>
          <p:cNvPr id="15" name="Shape 13"/>
          <p:cNvSpPr/>
          <p:nvPr/>
        </p:nvSpPr>
        <p:spPr>
          <a:xfrm>
            <a:off x="457200" y="3474720"/>
            <a:ext cx="73152" cy="1005840"/>
          </a:xfrm>
          <a:prstGeom prst="rect">
            <a:avLst/>
          </a:prstGeom>
          <a:solidFill>
            <a:srgbClr val="38BDF8"/>
          </a:solidFill>
          <a:ln w="12700">
            <a:solidFill>
              <a:srgbClr val="38BDF8"/>
            </a:solidFill>
            <a:prstDash val="solid"/>
          </a:ln>
        </p:spPr>
      </p:sp>
      <p:sp>
        <p:nvSpPr>
          <p:cNvPr id="16" name="Text 14"/>
          <p:cNvSpPr/>
          <p:nvPr/>
        </p:nvSpPr>
        <p:spPr>
          <a:xfrm>
            <a:off x="685800" y="3566160"/>
            <a:ext cx="640080" cy="365760"/>
          </a:xfrm>
          <a:prstGeom prst="rect">
            <a:avLst/>
          </a:prstGeom>
          <a:noFill/>
          <a:ln/>
        </p:spPr>
        <p:txBody>
          <a:bodyPr wrap="square" lIns="0" tIns="0" rIns="0" bIns="0" rtlCol="0" anchor="ctr"/>
          <a:lstStyle/>
          <a:p>
            <a:pPr indent="0" marL="0">
              <a:buNone/>
            </a:pPr>
            <a:r>
              <a:rPr lang="en-US" sz="2200" b="1" dirty="0">
                <a:solidFill>
                  <a:srgbClr val="38BDF8"/>
                </a:solidFill>
                <a:latin typeface="Cambria" pitchFamily="34" charset="0"/>
                <a:ea typeface="Cambria" pitchFamily="34" charset="-122"/>
                <a:cs typeface="Cambria" pitchFamily="34" charset="-120"/>
              </a:rPr>
              <a:t>03</a:t>
            </a:r>
            <a:endParaRPr lang="en-US" sz="2200" dirty="0"/>
          </a:p>
        </p:txBody>
      </p:sp>
      <p:sp>
        <p:nvSpPr>
          <p:cNvPr id="17" name="Text 15"/>
          <p:cNvSpPr/>
          <p:nvPr/>
        </p:nvSpPr>
        <p:spPr>
          <a:xfrm>
            <a:off x="1325880" y="3584448"/>
            <a:ext cx="3108960" cy="320040"/>
          </a:xfrm>
          <a:prstGeom prst="rect">
            <a:avLst/>
          </a:prstGeom>
          <a:noFill/>
          <a:ln/>
        </p:spPr>
        <p:txBody>
          <a:bodyPr wrap="square" lIns="0" tIns="0" rIns="0" bIns="0" rtlCol="0" anchor="ctr"/>
          <a:lstStyle/>
          <a:p>
            <a:pPr indent="0" marL="0">
              <a:buNone/>
            </a:pPr>
            <a:r>
              <a:rPr lang="en-US" sz="1400" b="1" dirty="0">
                <a:solidFill>
                  <a:srgbClr val="F1F5F9"/>
                </a:solidFill>
                <a:latin typeface="Cambria" pitchFamily="34" charset="0"/>
                <a:ea typeface="Cambria" pitchFamily="34" charset="-122"/>
                <a:cs typeface="Cambria" pitchFamily="34" charset="-120"/>
              </a:rPr>
              <a:t>Run baseline + modeled</a:t>
            </a:r>
            <a:endParaRPr lang="en-US" sz="1400" dirty="0"/>
          </a:p>
        </p:txBody>
      </p:sp>
      <p:sp>
        <p:nvSpPr>
          <p:cNvPr id="18" name="Text 16"/>
          <p:cNvSpPr/>
          <p:nvPr/>
        </p:nvSpPr>
        <p:spPr>
          <a:xfrm>
            <a:off x="1325880" y="3931920"/>
            <a:ext cx="3108960" cy="5029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Compare results against each example to measure delta.</a:t>
            </a:r>
            <a:endParaRPr lang="en-US" sz="1100" dirty="0"/>
          </a:p>
        </p:txBody>
      </p:sp>
      <p:sp>
        <p:nvSpPr>
          <p:cNvPr id="19" name="Shape 17"/>
          <p:cNvSpPr/>
          <p:nvPr/>
        </p:nvSpPr>
        <p:spPr>
          <a:xfrm>
            <a:off x="4663440" y="1280160"/>
            <a:ext cx="4023360" cy="1005840"/>
          </a:xfrm>
          <a:prstGeom prst="rect">
            <a:avLst/>
          </a:prstGeom>
          <a:solidFill>
            <a:srgbClr val="1E293B"/>
          </a:solidFill>
          <a:ln w="9525">
            <a:solidFill>
              <a:srgbClr val="334155"/>
            </a:solidFill>
            <a:prstDash val="solid"/>
          </a:ln>
        </p:spPr>
      </p:sp>
      <p:sp>
        <p:nvSpPr>
          <p:cNvPr id="20" name="Shape 18"/>
          <p:cNvSpPr/>
          <p:nvPr/>
        </p:nvSpPr>
        <p:spPr>
          <a:xfrm>
            <a:off x="4663440" y="1280160"/>
            <a:ext cx="73152" cy="1005840"/>
          </a:xfrm>
          <a:prstGeom prst="rect">
            <a:avLst/>
          </a:prstGeom>
          <a:solidFill>
            <a:srgbClr val="38BDF8"/>
          </a:solidFill>
          <a:ln w="12700">
            <a:solidFill>
              <a:srgbClr val="38BDF8"/>
            </a:solidFill>
            <a:prstDash val="solid"/>
          </a:ln>
        </p:spPr>
      </p:sp>
      <p:sp>
        <p:nvSpPr>
          <p:cNvPr id="21" name="Text 19"/>
          <p:cNvSpPr/>
          <p:nvPr/>
        </p:nvSpPr>
        <p:spPr>
          <a:xfrm>
            <a:off x="4892040" y="1371600"/>
            <a:ext cx="640080" cy="365760"/>
          </a:xfrm>
          <a:prstGeom prst="rect">
            <a:avLst/>
          </a:prstGeom>
          <a:noFill/>
          <a:ln/>
        </p:spPr>
        <p:txBody>
          <a:bodyPr wrap="square" lIns="0" tIns="0" rIns="0" bIns="0" rtlCol="0" anchor="ctr"/>
          <a:lstStyle/>
          <a:p>
            <a:pPr indent="0" marL="0">
              <a:buNone/>
            </a:pPr>
            <a:r>
              <a:rPr lang="en-US" sz="2200" b="1" dirty="0">
                <a:solidFill>
                  <a:srgbClr val="38BDF8"/>
                </a:solidFill>
                <a:latin typeface="Cambria" pitchFamily="34" charset="0"/>
                <a:ea typeface="Cambria" pitchFamily="34" charset="-122"/>
                <a:cs typeface="Cambria" pitchFamily="34" charset="-120"/>
              </a:rPr>
              <a:t>04</a:t>
            </a:r>
            <a:endParaRPr lang="en-US" sz="2200" dirty="0"/>
          </a:p>
        </p:txBody>
      </p:sp>
      <p:sp>
        <p:nvSpPr>
          <p:cNvPr id="22" name="Text 20"/>
          <p:cNvSpPr/>
          <p:nvPr/>
        </p:nvSpPr>
        <p:spPr>
          <a:xfrm>
            <a:off x="5532120" y="1389888"/>
            <a:ext cx="3108960" cy="320040"/>
          </a:xfrm>
          <a:prstGeom prst="rect">
            <a:avLst/>
          </a:prstGeom>
          <a:noFill/>
          <a:ln/>
        </p:spPr>
        <p:txBody>
          <a:bodyPr wrap="square" lIns="0" tIns="0" rIns="0" bIns="0" rtlCol="0" anchor="ctr"/>
          <a:lstStyle/>
          <a:p>
            <a:pPr indent="0" marL="0">
              <a:buNone/>
            </a:pPr>
            <a:r>
              <a:rPr lang="en-US" sz="1400" b="1" dirty="0">
                <a:solidFill>
                  <a:srgbClr val="F1F5F9"/>
                </a:solidFill>
                <a:latin typeface="Cambria" pitchFamily="34" charset="0"/>
                <a:ea typeface="Cambria" pitchFamily="34" charset="-122"/>
                <a:cs typeface="Cambria" pitchFamily="34" charset="-120"/>
              </a:rPr>
              <a:t>Promote validated tuples</a:t>
            </a:r>
            <a:endParaRPr lang="en-US" sz="1400" dirty="0"/>
          </a:p>
        </p:txBody>
      </p:sp>
      <p:sp>
        <p:nvSpPr>
          <p:cNvPr id="23" name="Text 21"/>
          <p:cNvSpPr/>
          <p:nvPr/>
        </p:nvSpPr>
        <p:spPr>
          <a:xfrm>
            <a:off x="5532120" y="1737360"/>
            <a:ext cx="3108960" cy="5029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Only low-noise model entries graduate to the org-level pack.</a:t>
            </a:r>
            <a:endParaRPr lang="en-US" sz="1100" dirty="0"/>
          </a:p>
        </p:txBody>
      </p:sp>
      <p:sp>
        <p:nvSpPr>
          <p:cNvPr id="24" name="Shape 22"/>
          <p:cNvSpPr/>
          <p:nvPr/>
        </p:nvSpPr>
        <p:spPr>
          <a:xfrm>
            <a:off x="4663440" y="2377440"/>
            <a:ext cx="4023360" cy="1005840"/>
          </a:xfrm>
          <a:prstGeom prst="rect">
            <a:avLst/>
          </a:prstGeom>
          <a:solidFill>
            <a:srgbClr val="1E293B"/>
          </a:solidFill>
          <a:ln w="9525">
            <a:solidFill>
              <a:srgbClr val="334155"/>
            </a:solidFill>
            <a:prstDash val="solid"/>
          </a:ln>
        </p:spPr>
      </p:sp>
      <p:sp>
        <p:nvSpPr>
          <p:cNvPr id="25" name="Shape 23"/>
          <p:cNvSpPr/>
          <p:nvPr/>
        </p:nvSpPr>
        <p:spPr>
          <a:xfrm>
            <a:off x="4663440" y="2377440"/>
            <a:ext cx="73152" cy="1005840"/>
          </a:xfrm>
          <a:prstGeom prst="rect">
            <a:avLst/>
          </a:prstGeom>
          <a:solidFill>
            <a:srgbClr val="38BDF8"/>
          </a:solidFill>
          <a:ln w="12700">
            <a:solidFill>
              <a:srgbClr val="38BDF8"/>
            </a:solidFill>
            <a:prstDash val="solid"/>
          </a:ln>
        </p:spPr>
      </p:sp>
      <p:sp>
        <p:nvSpPr>
          <p:cNvPr id="26" name="Text 24"/>
          <p:cNvSpPr/>
          <p:nvPr/>
        </p:nvSpPr>
        <p:spPr>
          <a:xfrm>
            <a:off x="4892040" y="2468880"/>
            <a:ext cx="640080" cy="365760"/>
          </a:xfrm>
          <a:prstGeom prst="rect">
            <a:avLst/>
          </a:prstGeom>
          <a:noFill/>
          <a:ln/>
        </p:spPr>
        <p:txBody>
          <a:bodyPr wrap="square" lIns="0" tIns="0" rIns="0" bIns="0" rtlCol="0" anchor="ctr"/>
          <a:lstStyle/>
          <a:p>
            <a:pPr indent="0" marL="0">
              <a:buNone/>
            </a:pPr>
            <a:r>
              <a:rPr lang="en-US" sz="2200" b="1" dirty="0">
                <a:solidFill>
                  <a:srgbClr val="38BDF8"/>
                </a:solidFill>
                <a:latin typeface="Cambria" pitchFamily="34" charset="0"/>
                <a:ea typeface="Cambria" pitchFamily="34" charset="-122"/>
                <a:cs typeface="Cambria" pitchFamily="34" charset="-120"/>
              </a:rPr>
              <a:t>05</a:t>
            </a:r>
            <a:endParaRPr lang="en-US" sz="2200" dirty="0"/>
          </a:p>
        </p:txBody>
      </p:sp>
      <p:sp>
        <p:nvSpPr>
          <p:cNvPr id="27" name="Text 25"/>
          <p:cNvSpPr/>
          <p:nvPr/>
        </p:nvSpPr>
        <p:spPr>
          <a:xfrm>
            <a:off x="5532120" y="2487168"/>
            <a:ext cx="3108960" cy="320040"/>
          </a:xfrm>
          <a:prstGeom prst="rect">
            <a:avLst/>
          </a:prstGeom>
          <a:noFill/>
          <a:ln/>
        </p:spPr>
        <p:txBody>
          <a:bodyPr wrap="square" lIns="0" tIns="0" rIns="0" bIns="0" rtlCol="0" anchor="ctr"/>
          <a:lstStyle/>
          <a:p>
            <a:pPr indent="0" marL="0">
              <a:buNone/>
            </a:pPr>
            <a:r>
              <a:rPr lang="en-US" sz="1400" b="1" dirty="0">
                <a:solidFill>
                  <a:srgbClr val="F1F5F9"/>
                </a:solidFill>
                <a:latin typeface="Cambria" pitchFamily="34" charset="0"/>
                <a:ea typeface="Cambria" pitchFamily="34" charset="-122"/>
                <a:cs typeface="Cambria" pitchFamily="34" charset="-120"/>
              </a:rPr>
              <a:t>Document coverage</a:t>
            </a:r>
            <a:endParaRPr lang="en-US" sz="1400" dirty="0"/>
          </a:p>
        </p:txBody>
      </p:sp>
      <p:sp>
        <p:nvSpPr>
          <p:cNvPr id="28" name="Text 26"/>
          <p:cNvSpPr/>
          <p:nvPr/>
        </p:nvSpPr>
        <p:spPr>
          <a:xfrm>
            <a:off x="5532120" y="2834640"/>
            <a:ext cx="3108960" cy="50292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Track known APIs and gaps for Java 8/17/21, Quarkus 3, legacy JBoss EAP.</a:t>
            </a:r>
            <a:endParaRPr lang="en-US" sz="1100" dirty="0"/>
          </a:p>
        </p:txBody>
      </p:sp>
      <p:sp>
        <p:nvSpPr>
          <p:cNvPr id="29" name="Shape 27"/>
          <p:cNvSpPr/>
          <p:nvPr/>
        </p:nvSpPr>
        <p:spPr>
          <a:xfrm>
            <a:off x="4663440" y="3474720"/>
            <a:ext cx="4023360" cy="1005840"/>
          </a:xfrm>
          <a:prstGeom prst="rect">
            <a:avLst/>
          </a:prstGeom>
          <a:solidFill>
            <a:srgbClr val="38BDF8"/>
          </a:solidFill>
          <a:ln w="12700">
            <a:solidFill>
              <a:srgbClr val="38BDF8"/>
            </a:solidFill>
            <a:prstDash val="solid"/>
          </a:ln>
        </p:spPr>
      </p:sp>
      <p:sp>
        <p:nvSpPr>
          <p:cNvPr id="30" name="Text 28"/>
          <p:cNvSpPr/>
          <p:nvPr/>
        </p:nvSpPr>
        <p:spPr>
          <a:xfrm>
            <a:off x="4846320" y="3566160"/>
            <a:ext cx="3657600" cy="320040"/>
          </a:xfrm>
          <a:prstGeom prst="rect">
            <a:avLst/>
          </a:prstGeom>
          <a:noFill/>
          <a:ln/>
        </p:spPr>
        <p:txBody>
          <a:bodyPr wrap="square" lIns="0" tIns="0" rIns="0" bIns="0" rtlCol="0" anchor="ctr"/>
          <a:lstStyle/>
          <a:p>
            <a:pPr indent="0" marL="0">
              <a:buNone/>
            </a:pPr>
            <a:r>
              <a:rPr lang="en-US" sz="1400" b="1" dirty="0">
                <a:solidFill>
                  <a:srgbClr val="0F172A"/>
                </a:solidFill>
                <a:latin typeface="Cambria" pitchFamily="34" charset="0"/>
                <a:ea typeface="Cambria" pitchFamily="34" charset="-122"/>
                <a:cs typeface="Cambria" pitchFamily="34" charset="-120"/>
              </a:rPr>
              <a:t>Closing the gap</a:t>
            </a:r>
            <a:endParaRPr lang="en-US" sz="1400" dirty="0"/>
          </a:p>
        </p:txBody>
      </p:sp>
      <p:sp>
        <p:nvSpPr>
          <p:cNvPr id="31" name="Text 29"/>
          <p:cNvSpPr/>
          <p:nvPr/>
        </p:nvSpPr>
        <p:spPr>
          <a:xfrm>
            <a:off x="4846320" y="3886200"/>
            <a:ext cx="3657600" cy="5943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Org model packs extend CodeQL — without writing custom queries or changing app code.</a:t>
            </a:r>
            <a:endParaRPr lang="en-US" sz="1100" dirty="0"/>
          </a:p>
        </p:txBody>
      </p:sp>
      <p:sp>
        <p:nvSpPr>
          <p:cNvPr id="33" name="Shape 30"/>
          <p:cNvSpPr/>
          <p:nvPr/>
        </p:nvSpPr>
        <p:spPr>
          <a:xfrm>
            <a:off x="0" y="4937760"/>
            <a:ext cx="9144000" cy="205740"/>
          </a:xfrm>
          <a:prstGeom prst="rect">
            <a:avLst/>
          </a:prstGeom>
          <a:solidFill>
            <a:srgbClr val="1E293B"/>
          </a:solidFill>
          <a:ln w="12700">
            <a:solidFill>
              <a:srgbClr val="1E293B"/>
            </a:solidFill>
            <a:prstDash val="solid"/>
          </a:ln>
        </p:spPr>
      </p:sp>
      <p:sp>
        <p:nvSpPr>
          <p:cNvPr id="34" name="Text 31"/>
          <p:cNvSpPr/>
          <p:nvPr/>
        </p:nvSpPr>
        <p:spPr>
          <a:xfrm>
            <a:off x="365760" y="4937760"/>
            <a:ext cx="5486400" cy="2057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CodeQL Proof  ·  JPA vs Quarkus/Panache</a:t>
            </a:r>
            <a:endParaRPr lang="en-US" sz="900" dirty="0"/>
          </a:p>
        </p:txBody>
      </p:sp>
      <p:sp>
        <p:nvSpPr>
          <p:cNvPr id="35" name="Text 32"/>
          <p:cNvSpPr/>
          <p:nvPr/>
        </p:nvSpPr>
        <p:spPr>
          <a:xfrm>
            <a:off x="7863840" y="4937760"/>
            <a:ext cx="914400" cy="20574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 / 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CodeQL Proof: JPA vs Quarkus/Panache</dc:title>
  <dc:subject>PptxGenJS Presentation</dc:subject>
  <dc:creator>Sujith Quintelier</dc:creator>
  <cp:lastModifiedBy>Sujith Quintelier</cp:lastModifiedBy>
  <cp:revision>1</cp:revision>
  <dcterms:created xsi:type="dcterms:W3CDTF">2026-05-04T13:13:25Z</dcterms:created>
  <dcterms:modified xsi:type="dcterms:W3CDTF">2026-05-04T13:13:25Z</dcterms:modified>
</cp:coreProperties>
</file>